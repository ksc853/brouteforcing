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2"/>
  </p:notesMasterIdLst>
  <p:sldIdLst>
    <p:sldId id="308" r:id="rId2"/>
    <p:sldId id="258" r:id="rId3"/>
    <p:sldId id="273" r:id="rId4"/>
    <p:sldId id="259" r:id="rId5"/>
    <p:sldId id="301" r:id="rId6"/>
    <p:sldId id="268" r:id="rId7"/>
    <p:sldId id="274" r:id="rId8"/>
    <p:sldId id="275" r:id="rId9"/>
    <p:sldId id="276" r:id="rId10"/>
    <p:sldId id="277" r:id="rId11"/>
    <p:sldId id="278" r:id="rId12"/>
    <p:sldId id="279" r:id="rId13"/>
    <p:sldId id="280" r:id="rId14"/>
    <p:sldId id="256" r:id="rId15"/>
    <p:sldId id="298" r:id="rId16"/>
    <p:sldId id="291" r:id="rId17"/>
    <p:sldId id="292" r:id="rId18"/>
    <p:sldId id="302" r:id="rId19"/>
    <p:sldId id="296" r:id="rId20"/>
    <p:sldId id="282" r:id="rId21"/>
    <p:sldId id="281" r:id="rId22"/>
    <p:sldId id="283" r:id="rId23"/>
    <p:sldId id="285" r:id="rId24"/>
    <p:sldId id="309" r:id="rId25"/>
    <p:sldId id="284" r:id="rId26"/>
    <p:sldId id="286" r:id="rId27"/>
    <p:sldId id="287" r:id="rId28"/>
    <p:sldId id="306" r:id="rId29"/>
    <p:sldId id="297" r:id="rId30"/>
    <p:sldId id="295"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15" autoAdjust="0"/>
    <p:restoredTop sz="94660"/>
  </p:normalViewPr>
  <p:slideViewPr>
    <p:cSldViewPr snapToGrid="0">
      <p:cViewPr varScale="1">
        <p:scale>
          <a:sx n="109" d="100"/>
          <a:sy n="109" d="100"/>
        </p:scale>
        <p:origin x="80"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BF5DFE5-B6B1-48A3-83B4-9A95FBAE968D}" type="datetimeFigureOut">
              <a:rPr lang="en-IN" smtClean="0"/>
              <a:t>07-11-2025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16F0607-E88D-4A8D-BB47-DC17241D82EB}" type="slidenum">
              <a:rPr lang="en-IN" smtClean="0"/>
              <a:t>‹#›</a:t>
            </a:fld>
            <a:endParaRPr lang="en-IN"/>
          </a:p>
        </p:txBody>
      </p:sp>
    </p:spTree>
    <p:extLst>
      <p:ext uri="{BB962C8B-B14F-4D97-AF65-F5344CB8AC3E}">
        <p14:creationId xmlns:p14="http://schemas.microsoft.com/office/powerpoint/2010/main" val="7357106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39f8df10c74_0_0: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8" name="Google Shape;58;g39f8df10c74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that weak and reused passwords are the main reason for successful attacks.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Real cracking tools combine many techniques. Brute-force tries everything; dictionary and mask attacks focus guesses to be faster. GPUs and multiple cores speed things up massively. Handling hashes and salts makes attacks realistic for offline data. Good tools let you pause/resume and show progress — and importantly, they should only be used with permission for testing or learning.</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real examples: brute-force for short PINs, dictionary for leaked-password style guesses, masks when you know password format (like a capital + name + 2 digits). Rule-based attacks are powerful because they mimic how users modify words.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Compare hash methods and emphasize bcrypt and Argon2 as best for real password protection.</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hash stores a scrambled version of the password so the original can’t be retrieved directly. A salt is extra random data mixed into the password before hashing — it ensures identical passwords don’t create identical hashes, which defeats precomputed attacks like rainbow tables. Adding an offline hash + salt demo would make our simulation much more realistic while keeping it local and safe.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demo isn’t about wrongdoing — it shows why strong passwords matter. Ethical cracking helps organizations find weak credentials so they can strengthen defenses. Best defenses are long, unique passwords stored in a password manager and multi-factor authentication. Always stress: any cracking must be authorized in writing for legal and ethical reasons.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C255ED-C329-800C-5642-5DD41FC59F6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9DF379CC-9621-98CE-A3E3-FEE9D3919BB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DE4525D8-2827-71B5-108C-878944371A44}"/>
              </a:ext>
            </a:extLst>
          </p:cNvPr>
          <p:cNvSpPr>
            <a:spLocks noGrp="1"/>
          </p:cNvSpPr>
          <p:nvPr>
            <p:ph type="dt" sz="half" idx="10"/>
          </p:nvPr>
        </p:nvSpPr>
        <p:spPr/>
        <p:txBody>
          <a:bodyPr/>
          <a:lstStyle/>
          <a:p>
            <a:fld id="{89AC93F7-1109-42CA-B21A-71264535B330}" type="datetimeFigureOut">
              <a:rPr lang="en-IN" smtClean="0"/>
              <a:t>07-11-2025</a:t>
            </a:fld>
            <a:endParaRPr lang="en-IN"/>
          </a:p>
        </p:txBody>
      </p:sp>
      <p:sp>
        <p:nvSpPr>
          <p:cNvPr id="5" name="Footer Placeholder 4">
            <a:extLst>
              <a:ext uri="{FF2B5EF4-FFF2-40B4-BE49-F238E27FC236}">
                <a16:creationId xmlns:a16="http://schemas.microsoft.com/office/drawing/2014/main" id="{580B41B6-3061-AE41-D1C5-C4D874BDDD8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FBA01B3-5D41-776C-7051-4D2BD41F2B97}"/>
              </a:ext>
            </a:extLst>
          </p:cNvPr>
          <p:cNvSpPr>
            <a:spLocks noGrp="1"/>
          </p:cNvSpPr>
          <p:nvPr>
            <p:ph type="sldNum" sz="quarter" idx="12"/>
          </p:nvPr>
        </p:nvSpPr>
        <p:spPr/>
        <p:txBody>
          <a:bodyPr/>
          <a:lstStyle/>
          <a:p>
            <a:fld id="{48CB47C7-290E-4180-8329-F3B2C7FF5BC7}" type="slidenum">
              <a:rPr lang="en-IN" smtClean="0"/>
              <a:t>‹#›</a:t>
            </a:fld>
            <a:endParaRPr lang="en-IN"/>
          </a:p>
        </p:txBody>
      </p:sp>
    </p:spTree>
    <p:extLst>
      <p:ext uri="{BB962C8B-B14F-4D97-AF65-F5344CB8AC3E}">
        <p14:creationId xmlns:p14="http://schemas.microsoft.com/office/powerpoint/2010/main" val="31108024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706C98-D5DA-4658-8A80-064214A8BC0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9EC5772-C0B0-DB30-7935-824686B0160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35F017C-73C6-1E17-8398-704B2E654CB7}"/>
              </a:ext>
            </a:extLst>
          </p:cNvPr>
          <p:cNvSpPr>
            <a:spLocks noGrp="1"/>
          </p:cNvSpPr>
          <p:nvPr>
            <p:ph type="dt" sz="half" idx="10"/>
          </p:nvPr>
        </p:nvSpPr>
        <p:spPr/>
        <p:txBody>
          <a:bodyPr/>
          <a:lstStyle/>
          <a:p>
            <a:fld id="{89AC93F7-1109-42CA-B21A-71264535B330}" type="datetimeFigureOut">
              <a:rPr lang="en-IN" smtClean="0"/>
              <a:t>07-11-2025</a:t>
            </a:fld>
            <a:endParaRPr lang="en-IN"/>
          </a:p>
        </p:txBody>
      </p:sp>
      <p:sp>
        <p:nvSpPr>
          <p:cNvPr id="5" name="Footer Placeholder 4">
            <a:extLst>
              <a:ext uri="{FF2B5EF4-FFF2-40B4-BE49-F238E27FC236}">
                <a16:creationId xmlns:a16="http://schemas.microsoft.com/office/drawing/2014/main" id="{490A59D1-5B81-5CC8-D2C1-945DE100645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2D847C7-90D3-EEF6-1192-3450FB89AD82}"/>
              </a:ext>
            </a:extLst>
          </p:cNvPr>
          <p:cNvSpPr>
            <a:spLocks noGrp="1"/>
          </p:cNvSpPr>
          <p:nvPr>
            <p:ph type="sldNum" sz="quarter" idx="12"/>
          </p:nvPr>
        </p:nvSpPr>
        <p:spPr/>
        <p:txBody>
          <a:bodyPr/>
          <a:lstStyle/>
          <a:p>
            <a:fld id="{48CB47C7-290E-4180-8329-F3B2C7FF5BC7}" type="slidenum">
              <a:rPr lang="en-IN" smtClean="0"/>
              <a:t>‹#›</a:t>
            </a:fld>
            <a:endParaRPr lang="en-IN"/>
          </a:p>
        </p:txBody>
      </p:sp>
    </p:spTree>
    <p:extLst>
      <p:ext uri="{BB962C8B-B14F-4D97-AF65-F5344CB8AC3E}">
        <p14:creationId xmlns:p14="http://schemas.microsoft.com/office/powerpoint/2010/main" val="14147355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8CDE95-D828-82F2-8F81-44B7DF40E87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16AFB1C3-087E-F3A3-47CB-2CC9BEBBE5A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912F145-F8DB-4CA5-7BCE-BF76A1F91330}"/>
              </a:ext>
            </a:extLst>
          </p:cNvPr>
          <p:cNvSpPr>
            <a:spLocks noGrp="1"/>
          </p:cNvSpPr>
          <p:nvPr>
            <p:ph type="dt" sz="half" idx="10"/>
          </p:nvPr>
        </p:nvSpPr>
        <p:spPr/>
        <p:txBody>
          <a:bodyPr/>
          <a:lstStyle/>
          <a:p>
            <a:fld id="{89AC93F7-1109-42CA-B21A-71264535B330}" type="datetimeFigureOut">
              <a:rPr lang="en-IN" smtClean="0"/>
              <a:t>07-11-2025</a:t>
            </a:fld>
            <a:endParaRPr lang="en-IN"/>
          </a:p>
        </p:txBody>
      </p:sp>
      <p:sp>
        <p:nvSpPr>
          <p:cNvPr id="5" name="Footer Placeholder 4">
            <a:extLst>
              <a:ext uri="{FF2B5EF4-FFF2-40B4-BE49-F238E27FC236}">
                <a16:creationId xmlns:a16="http://schemas.microsoft.com/office/drawing/2014/main" id="{399F1C8F-FA7C-35C8-066E-EB4433C4B9D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023CA4A-C316-0E91-5728-8CB6E463685B}"/>
              </a:ext>
            </a:extLst>
          </p:cNvPr>
          <p:cNvSpPr>
            <a:spLocks noGrp="1"/>
          </p:cNvSpPr>
          <p:nvPr>
            <p:ph type="sldNum" sz="quarter" idx="12"/>
          </p:nvPr>
        </p:nvSpPr>
        <p:spPr/>
        <p:txBody>
          <a:bodyPr/>
          <a:lstStyle/>
          <a:p>
            <a:fld id="{48CB47C7-290E-4180-8329-F3B2C7FF5BC7}" type="slidenum">
              <a:rPr lang="en-IN" smtClean="0"/>
              <a:t>‹#›</a:t>
            </a:fld>
            <a:endParaRPr lang="en-IN"/>
          </a:p>
        </p:txBody>
      </p:sp>
    </p:spTree>
    <p:extLst>
      <p:ext uri="{BB962C8B-B14F-4D97-AF65-F5344CB8AC3E}">
        <p14:creationId xmlns:p14="http://schemas.microsoft.com/office/powerpoint/2010/main" val="32713620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6B6FFF-D247-D9CC-8DD8-EB12235E88F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07D4BC0-E23B-8E83-831E-4CC8BB48385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B501B399-27DC-56C9-F59D-58808AD4EB7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761EB4F-31EA-7424-C119-5520CDBE23CE}"/>
              </a:ext>
            </a:extLst>
          </p:cNvPr>
          <p:cNvSpPr>
            <a:spLocks noGrp="1"/>
          </p:cNvSpPr>
          <p:nvPr>
            <p:ph type="dt" sz="half" idx="10"/>
          </p:nvPr>
        </p:nvSpPr>
        <p:spPr/>
        <p:txBody>
          <a:bodyPr/>
          <a:lstStyle/>
          <a:p>
            <a:fld id="{89AC93F7-1109-42CA-B21A-71264535B330}" type="datetimeFigureOut">
              <a:rPr lang="en-IN" smtClean="0"/>
              <a:t>07-11-2025</a:t>
            </a:fld>
            <a:endParaRPr lang="en-IN"/>
          </a:p>
        </p:txBody>
      </p:sp>
      <p:sp>
        <p:nvSpPr>
          <p:cNvPr id="6" name="Footer Placeholder 5">
            <a:extLst>
              <a:ext uri="{FF2B5EF4-FFF2-40B4-BE49-F238E27FC236}">
                <a16:creationId xmlns:a16="http://schemas.microsoft.com/office/drawing/2014/main" id="{AF4E543B-95DD-666E-7A60-9CDC98E6D59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6F18F0A-8201-373F-FE14-7D7B7C27CF27}"/>
              </a:ext>
            </a:extLst>
          </p:cNvPr>
          <p:cNvSpPr>
            <a:spLocks noGrp="1"/>
          </p:cNvSpPr>
          <p:nvPr>
            <p:ph type="sldNum" sz="quarter" idx="12"/>
          </p:nvPr>
        </p:nvSpPr>
        <p:spPr/>
        <p:txBody>
          <a:bodyPr/>
          <a:lstStyle/>
          <a:p>
            <a:fld id="{48CB47C7-290E-4180-8329-F3B2C7FF5BC7}" type="slidenum">
              <a:rPr lang="en-IN" smtClean="0"/>
              <a:t>‹#›</a:t>
            </a:fld>
            <a:endParaRPr lang="en-IN"/>
          </a:p>
        </p:txBody>
      </p:sp>
    </p:spTree>
    <p:extLst>
      <p:ext uri="{BB962C8B-B14F-4D97-AF65-F5344CB8AC3E}">
        <p14:creationId xmlns:p14="http://schemas.microsoft.com/office/powerpoint/2010/main" val="37478689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7E1FBC-CB24-20BD-E4ED-3166F502B536}"/>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6061133-2F23-2791-F8D6-548AF3291CB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9DA0E12-0279-E68A-5D87-5978ACDD53F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AE8E3E8-E984-7358-D70D-F6978335C18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64816AB-9F22-918A-0B88-8815F1EFB5D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BF03C8E-5DCF-DABF-E3C6-C414B900D535}"/>
              </a:ext>
            </a:extLst>
          </p:cNvPr>
          <p:cNvSpPr>
            <a:spLocks noGrp="1"/>
          </p:cNvSpPr>
          <p:nvPr>
            <p:ph type="dt" sz="half" idx="10"/>
          </p:nvPr>
        </p:nvSpPr>
        <p:spPr/>
        <p:txBody>
          <a:bodyPr/>
          <a:lstStyle/>
          <a:p>
            <a:fld id="{89AC93F7-1109-42CA-B21A-71264535B330}" type="datetimeFigureOut">
              <a:rPr lang="en-IN" smtClean="0"/>
              <a:t>07-11-2025</a:t>
            </a:fld>
            <a:endParaRPr lang="en-IN"/>
          </a:p>
        </p:txBody>
      </p:sp>
      <p:sp>
        <p:nvSpPr>
          <p:cNvPr id="8" name="Footer Placeholder 7">
            <a:extLst>
              <a:ext uri="{FF2B5EF4-FFF2-40B4-BE49-F238E27FC236}">
                <a16:creationId xmlns:a16="http://schemas.microsoft.com/office/drawing/2014/main" id="{1FFC7A41-7D0D-90CA-80C4-C848076051A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C61F8306-B2F2-9D35-7C44-80E56DE5FC01}"/>
              </a:ext>
            </a:extLst>
          </p:cNvPr>
          <p:cNvSpPr>
            <a:spLocks noGrp="1"/>
          </p:cNvSpPr>
          <p:nvPr>
            <p:ph type="sldNum" sz="quarter" idx="12"/>
          </p:nvPr>
        </p:nvSpPr>
        <p:spPr/>
        <p:txBody>
          <a:bodyPr/>
          <a:lstStyle/>
          <a:p>
            <a:fld id="{48CB47C7-290E-4180-8329-F3B2C7FF5BC7}" type="slidenum">
              <a:rPr lang="en-IN" smtClean="0"/>
              <a:t>‹#›</a:t>
            </a:fld>
            <a:endParaRPr lang="en-IN"/>
          </a:p>
        </p:txBody>
      </p:sp>
    </p:spTree>
    <p:extLst>
      <p:ext uri="{BB962C8B-B14F-4D97-AF65-F5344CB8AC3E}">
        <p14:creationId xmlns:p14="http://schemas.microsoft.com/office/powerpoint/2010/main" val="36755399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6912D1-8683-2555-6D3D-943A894C951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337E1A7-BDC2-12AB-9C2A-3B6AEC6579DF}"/>
              </a:ext>
            </a:extLst>
          </p:cNvPr>
          <p:cNvSpPr>
            <a:spLocks noGrp="1"/>
          </p:cNvSpPr>
          <p:nvPr>
            <p:ph type="dt" sz="half" idx="10"/>
          </p:nvPr>
        </p:nvSpPr>
        <p:spPr/>
        <p:txBody>
          <a:bodyPr/>
          <a:lstStyle/>
          <a:p>
            <a:fld id="{89AC93F7-1109-42CA-B21A-71264535B330}" type="datetimeFigureOut">
              <a:rPr lang="en-IN" smtClean="0"/>
              <a:t>07-11-2025</a:t>
            </a:fld>
            <a:endParaRPr lang="en-IN"/>
          </a:p>
        </p:txBody>
      </p:sp>
      <p:sp>
        <p:nvSpPr>
          <p:cNvPr id="4" name="Footer Placeholder 3">
            <a:extLst>
              <a:ext uri="{FF2B5EF4-FFF2-40B4-BE49-F238E27FC236}">
                <a16:creationId xmlns:a16="http://schemas.microsoft.com/office/drawing/2014/main" id="{05AB5553-5642-8491-560B-DCE13AED7791}"/>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2537619E-F1C4-B8DC-0EAF-890592542FA5}"/>
              </a:ext>
            </a:extLst>
          </p:cNvPr>
          <p:cNvSpPr>
            <a:spLocks noGrp="1"/>
          </p:cNvSpPr>
          <p:nvPr>
            <p:ph type="sldNum" sz="quarter" idx="12"/>
          </p:nvPr>
        </p:nvSpPr>
        <p:spPr/>
        <p:txBody>
          <a:bodyPr/>
          <a:lstStyle/>
          <a:p>
            <a:fld id="{48CB47C7-290E-4180-8329-F3B2C7FF5BC7}" type="slidenum">
              <a:rPr lang="en-IN" smtClean="0"/>
              <a:t>‹#›</a:t>
            </a:fld>
            <a:endParaRPr lang="en-IN"/>
          </a:p>
        </p:txBody>
      </p:sp>
    </p:spTree>
    <p:extLst>
      <p:ext uri="{BB962C8B-B14F-4D97-AF65-F5344CB8AC3E}">
        <p14:creationId xmlns:p14="http://schemas.microsoft.com/office/powerpoint/2010/main" val="15937210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DEBA906-9607-57BA-4682-2728E5EFE5CF}"/>
              </a:ext>
            </a:extLst>
          </p:cNvPr>
          <p:cNvSpPr>
            <a:spLocks noGrp="1"/>
          </p:cNvSpPr>
          <p:nvPr>
            <p:ph type="dt" sz="half" idx="10"/>
          </p:nvPr>
        </p:nvSpPr>
        <p:spPr/>
        <p:txBody>
          <a:bodyPr/>
          <a:lstStyle/>
          <a:p>
            <a:fld id="{89AC93F7-1109-42CA-B21A-71264535B330}" type="datetimeFigureOut">
              <a:rPr lang="en-IN" smtClean="0"/>
              <a:t>07-11-2025</a:t>
            </a:fld>
            <a:endParaRPr lang="en-IN"/>
          </a:p>
        </p:txBody>
      </p:sp>
      <p:sp>
        <p:nvSpPr>
          <p:cNvPr id="3" name="Footer Placeholder 2">
            <a:extLst>
              <a:ext uri="{FF2B5EF4-FFF2-40B4-BE49-F238E27FC236}">
                <a16:creationId xmlns:a16="http://schemas.microsoft.com/office/drawing/2014/main" id="{975DCC77-6E53-D720-6A2B-2D565A660BAA}"/>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1254BB24-09B0-3375-41CA-68158D1385DC}"/>
              </a:ext>
            </a:extLst>
          </p:cNvPr>
          <p:cNvSpPr>
            <a:spLocks noGrp="1"/>
          </p:cNvSpPr>
          <p:nvPr>
            <p:ph type="sldNum" sz="quarter" idx="12"/>
          </p:nvPr>
        </p:nvSpPr>
        <p:spPr/>
        <p:txBody>
          <a:bodyPr/>
          <a:lstStyle/>
          <a:p>
            <a:fld id="{48CB47C7-290E-4180-8329-F3B2C7FF5BC7}" type="slidenum">
              <a:rPr lang="en-IN" smtClean="0"/>
              <a:t>‹#›</a:t>
            </a:fld>
            <a:endParaRPr lang="en-IN"/>
          </a:p>
        </p:txBody>
      </p:sp>
    </p:spTree>
    <p:extLst>
      <p:ext uri="{BB962C8B-B14F-4D97-AF65-F5344CB8AC3E}">
        <p14:creationId xmlns:p14="http://schemas.microsoft.com/office/powerpoint/2010/main" val="3132290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98B329-B365-9197-FE7D-F318E476634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7C4ACD8-5C7B-AB02-2EF9-632C8CB524D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C63CF898-79D9-CF7B-66BD-DB9DFDB660C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CC78CCC-0E27-78CB-2072-5C5477BA0AF0}"/>
              </a:ext>
            </a:extLst>
          </p:cNvPr>
          <p:cNvSpPr>
            <a:spLocks noGrp="1"/>
          </p:cNvSpPr>
          <p:nvPr>
            <p:ph type="dt" sz="half" idx="10"/>
          </p:nvPr>
        </p:nvSpPr>
        <p:spPr/>
        <p:txBody>
          <a:bodyPr/>
          <a:lstStyle/>
          <a:p>
            <a:fld id="{89AC93F7-1109-42CA-B21A-71264535B330}" type="datetimeFigureOut">
              <a:rPr lang="en-IN" smtClean="0"/>
              <a:t>07-11-2025</a:t>
            </a:fld>
            <a:endParaRPr lang="en-IN"/>
          </a:p>
        </p:txBody>
      </p:sp>
      <p:sp>
        <p:nvSpPr>
          <p:cNvPr id="6" name="Footer Placeholder 5">
            <a:extLst>
              <a:ext uri="{FF2B5EF4-FFF2-40B4-BE49-F238E27FC236}">
                <a16:creationId xmlns:a16="http://schemas.microsoft.com/office/drawing/2014/main" id="{578CB965-1A73-9F6C-90E3-C9623ACDBD0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BA2C83D-7D04-D4F7-2DEF-89B19F2E67B7}"/>
              </a:ext>
            </a:extLst>
          </p:cNvPr>
          <p:cNvSpPr>
            <a:spLocks noGrp="1"/>
          </p:cNvSpPr>
          <p:nvPr>
            <p:ph type="sldNum" sz="quarter" idx="12"/>
          </p:nvPr>
        </p:nvSpPr>
        <p:spPr/>
        <p:txBody>
          <a:bodyPr/>
          <a:lstStyle/>
          <a:p>
            <a:fld id="{48CB47C7-290E-4180-8329-F3B2C7FF5BC7}" type="slidenum">
              <a:rPr lang="en-IN" smtClean="0"/>
              <a:t>‹#›</a:t>
            </a:fld>
            <a:endParaRPr lang="en-IN"/>
          </a:p>
        </p:txBody>
      </p:sp>
    </p:spTree>
    <p:extLst>
      <p:ext uri="{BB962C8B-B14F-4D97-AF65-F5344CB8AC3E}">
        <p14:creationId xmlns:p14="http://schemas.microsoft.com/office/powerpoint/2010/main" val="23271033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1AF5BE-5CDB-84E2-B2CA-88ED3A4006E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9CD90744-0E1C-CF31-C21E-6CD34E87023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F17D8B8C-8E52-A4E0-3A1C-232C2080B57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AEFFAE4-6416-411D-7CDD-B0FF566BCA82}"/>
              </a:ext>
            </a:extLst>
          </p:cNvPr>
          <p:cNvSpPr>
            <a:spLocks noGrp="1"/>
          </p:cNvSpPr>
          <p:nvPr>
            <p:ph type="dt" sz="half" idx="10"/>
          </p:nvPr>
        </p:nvSpPr>
        <p:spPr/>
        <p:txBody>
          <a:bodyPr/>
          <a:lstStyle/>
          <a:p>
            <a:fld id="{89AC93F7-1109-42CA-B21A-71264535B330}" type="datetimeFigureOut">
              <a:rPr lang="en-IN" smtClean="0"/>
              <a:t>07-11-2025</a:t>
            </a:fld>
            <a:endParaRPr lang="en-IN"/>
          </a:p>
        </p:txBody>
      </p:sp>
      <p:sp>
        <p:nvSpPr>
          <p:cNvPr id="6" name="Footer Placeholder 5">
            <a:extLst>
              <a:ext uri="{FF2B5EF4-FFF2-40B4-BE49-F238E27FC236}">
                <a16:creationId xmlns:a16="http://schemas.microsoft.com/office/drawing/2014/main" id="{1E3C79FE-C46E-1069-3AFE-F9478B27DE5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11DA456-87BF-6382-EBFA-DC9733EA0668}"/>
              </a:ext>
            </a:extLst>
          </p:cNvPr>
          <p:cNvSpPr>
            <a:spLocks noGrp="1"/>
          </p:cNvSpPr>
          <p:nvPr>
            <p:ph type="sldNum" sz="quarter" idx="12"/>
          </p:nvPr>
        </p:nvSpPr>
        <p:spPr/>
        <p:txBody>
          <a:bodyPr/>
          <a:lstStyle/>
          <a:p>
            <a:fld id="{48CB47C7-290E-4180-8329-F3B2C7FF5BC7}" type="slidenum">
              <a:rPr lang="en-IN" smtClean="0"/>
              <a:t>‹#›</a:t>
            </a:fld>
            <a:endParaRPr lang="en-IN"/>
          </a:p>
        </p:txBody>
      </p:sp>
    </p:spTree>
    <p:extLst>
      <p:ext uri="{BB962C8B-B14F-4D97-AF65-F5344CB8AC3E}">
        <p14:creationId xmlns:p14="http://schemas.microsoft.com/office/powerpoint/2010/main" val="33448272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BB936E-FB8F-2AC9-BAA1-9FD835B5F9E0}"/>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3F6EC08-83AF-D0F2-6B3F-4CB8353C523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2C8163F-5A33-2E44-D48D-4A9BD61E5456}"/>
              </a:ext>
            </a:extLst>
          </p:cNvPr>
          <p:cNvSpPr>
            <a:spLocks noGrp="1"/>
          </p:cNvSpPr>
          <p:nvPr>
            <p:ph type="dt" sz="half" idx="10"/>
          </p:nvPr>
        </p:nvSpPr>
        <p:spPr/>
        <p:txBody>
          <a:bodyPr/>
          <a:lstStyle/>
          <a:p>
            <a:fld id="{89AC93F7-1109-42CA-B21A-71264535B330}" type="datetimeFigureOut">
              <a:rPr lang="en-IN" smtClean="0"/>
              <a:t>07-11-2025</a:t>
            </a:fld>
            <a:endParaRPr lang="en-IN"/>
          </a:p>
        </p:txBody>
      </p:sp>
      <p:sp>
        <p:nvSpPr>
          <p:cNvPr id="5" name="Footer Placeholder 4">
            <a:extLst>
              <a:ext uri="{FF2B5EF4-FFF2-40B4-BE49-F238E27FC236}">
                <a16:creationId xmlns:a16="http://schemas.microsoft.com/office/drawing/2014/main" id="{675EF7F9-D8C1-CE8F-7418-5CCA91DC3DA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6EE962F-A939-5A6D-387C-84C0E48DC822}"/>
              </a:ext>
            </a:extLst>
          </p:cNvPr>
          <p:cNvSpPr>
            <a:spLocks noGrp="1"/>
          </p:cNvSpPr>
          <p:nvPr>
            <p:ph type="sldNum" sz="quarter" idx="12"/>
          </p:nvPr>
        </p:nvSpPr>
        <p:spPr/>
        <p:txBody>
          <a:bodyPr/>
          <a:lstStyle/>
          <a:p>
            <a:fld id="{48CB47C7-290E-4180-8329-F3B2C7FF5BC7}" type="slidenum">
              <a:rPr lang="en-IN" smtClean="0"/>
              <a:t>‹#›</a:t>
            </a:fld>
            <a:endParaRPr lang="en-IN"/>
          </a:p>
        </p:txBody>
      </p:sp>
    </p:spTree>
    <p:extLst>
      <p:ext uri="{BB962C8B-B14F-4D97-AF65-F5344CB8AC3E}">
        <p14:creationId xmlns:p14="http://schemas.microsoft.com/office/powerpoint/2010/main" val="16468038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A3D2F7C-862E-4261-5BD9-C0862E0AAB6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952B39F-B826-C0ED-0BBB-46573E75F2F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50E284F-F801-7C78-46E6-B3A591F3BDFF}"/>
              </a:ext>
            </a:extLst>
          </p:cNvPr>
          <p:cNvSpPr>
            <a:spLocks noGrp="1"/>
          </p:cNvSpPr>
          <p:nvPr>
            <p:ph type="dt" sz="half" idx="10"/>
          </p:nvPr>
        </p:nvSpPr>
        <p:spPr/>
        <p:txBody>
          <a:bodyPr/>
          <a:lstStyle/>
          <a:p>
            <a:fld id="{89AC93F7-1109-42CA-B21A-71264535B330}" type="datetimeFigureOut">
              <a:rPr lang="en-IN" smtClean="0"/>
              <a:t>07-11-2025</a:t>
            </a:fld>
            <a:endParaRPr lang="en-IN"/>
          </a:p>
        </p:txBody>
      </p:sp>
      <p:sp>
        <p:nvSpPr>
          <p:cNvPr id="5" name="Footer Placeholder 4">
            <a:extLst>
              <a:ext uri="{FF2B5EF4-FFF2-40B4-BE49-F238E27FC236}">
                <a16:creationId xmlns:a16="http://schemas.microsoft.com/office/drawing/2014/main" id="{75C94936-5983-4B25-1FE3-C4B86C01F90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773FE8D-B081-0BA6-7D03-608080DFFF8E}"/>
              </a:ext>
            </a:extLst>
          </p:cNvPr>
          <p:cNvSpPr>
            <a:spLocks noGrp="1"/>
          </p:cNvSpPr>
          <p:nvPr>
            <p:ph type="sldNum" sz="quarter" idx="12"/>
          </p:nvPr>
        </p:nvSpPr>
        <p:spPr/>
        <p:txBody>
          <a:bodyPr/>
          <a:lstStyle/>
          <a:p>
            <a:fld id="{48CB47C7-290E-4180-8329-F3B2C7FF5BC7}" type="slidenum">
              <a:rPr lang="en-IN" smtClean="0"/>
              <a:t>‹#›</a:t>
            </a:fld>
            <a:endParaRPr lang="en-IN"/>
          </a:p>
        </p:txBody>
      </p:sp>
    </p:spTree>
    <p:extLst>
      <p:ext uri="{BB962C8B-B14F-4D97-AF65-F5344CB8AC3E}">
        <p14:creationId xmlns:p14="http://schemas.microsoft.com/office/powerpoint/2010/main" val="34678591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BEB6092-06D8-AFD4-20D4-FB9EA10954E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FAB8775-EE96-5DF6-C21F-B6D59898A5C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F1B5007-DCF9-83AD-9AC7-B735F4E114C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9AC93F7-1109-42CA-B21A-71264535B330}" type="datetimeFigureOut">
              <a:rPr lang="en-IN" smtClean="0"/>
              <a:t>07-11-2025</a:t>
            </a:fld>
            <a:endParaRPr lang="en-IN"/>
          </a:p>
        </p:txBody>
      </p:sp>
      <p:sp>
        <p:nvSpPr>
          <p:cNvPr id="5" name="Footer Placeholder 4">
            <a:extLst>
              <a:ext uri="{FF2B5EF4-FFF2-40B4-BE49-F238E27FC236}">
                <a16:creationId xmlns:a16="http://schemas.microsoft.com/office/drawing/2014/main" id="{70F5999D-A591-F9AD-EE55-BEE3FE77D46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D8EAE924-F51A-C62E-B348-47DCC7DE94B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CB47C7-290E-4180-8329-F3B2C7FF5BC7}" type="slidenum">
              <a:rPr lang="en-IN" smtClean="0"/>
              <a:t>‹#›</a:t>
            </a:fld>
            <a:endParaRPr lang="en-IN"/>
          </a:p>
        </p:txBody>
      </p:sp>
    </p:spTree>
    <p:extLst>
      <p:ext uri="{BB962C8B-B14F-4D97-AF65-F5344CB8AC3E}">
        <p14:creationId xmlns:p14="http://schemas.microsoft.com/office/powerpoint/2010/main" val="35403423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g39f8df10c74_0_0"/>
          <p:cNvSpPr txBox="1"/>
          <p:nvPr/>
        </p:nvSpPr>
        <p:spPr>
          <a:xfrm>
            <a:off x="1034421" y="207388"/>
            <a:ext cx="10122300" cy="1015622"/>
          </a:xfrm>
          <a:prstGeom prst="rect">
            <a:avLst/>
          </a:prstGeom>
          <a:noFill/>
          <a:ln>
            <a:noFill/>
          </a:ln>
        </p:spPr>
        <p:txBody>
          <a:bodyPr spcFirstLastPara="1" wrap="square" lIns="91425" tIns="45700" rIns="91425" bIns="45700" anchor="t" anchorCtr="0">
            <a:spAutoFit/>
          </a:bodyPr>
          <a:lstStyle/>
          <a:p>
            <a:pPr algn="ctr">
              <a:defRPr/>
            </a:pPr>
            <a:r>
              <a:rPr lang="en-US" sz="2000" b="1" dirty="0"/>
              <a:t>A Project Presentation</a:t>
            </a:r>
            <a:br>
              <a:rPr lang="en-US" sz="2000" b="1" dirty="0"/>
            </a:br>
            <a:r>
              <a:rPr lang="en-US" sz="2000" b="1" dirty="0"/>
              <a:t> on</a:t>
            </a:r>
            <a:br>
              <a:rPr lang="en-US" sz="2000" b="1" dirty="0"/>
            </a:br>
            <a:r>
              <a:rPr lang="en-US" sz="2000" b="1" dirty="0"/>
              <a:t>Password Cracking by Brute Force </a:t>
            </a:r>
            <a:endParaRPr lang="en-US" sz="2000" b="1" dirty="0">
              <a:latin typeface="Calibri" panose="020F0502020204030204" pitchFamily="34" charset="0"/>
            </a:endParaRPr>
          </a:p>
        </p:txBody>
      </p:sp>
      <p:sp>
        <p:nvSpPr>
          <p:cNvPr id="63" name="Google Shape;63;g39f8df10c74_0_0"/>
          <p:cNvSpPr txBox="1"/>
          <p:nvPr/>
        </p:nvSpPr>
        <p:spPr>
          <a:xfrm>
            <a:off x="3048762" y="4659827"/>
            <a:ext cx="6094500" cy="40006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chemeClr val="dk1"/>
              </a:buClr>
              <a:buSzPts val="1800"/>
              <a:buFont typeface="Arial"/>
              <a:buNone/>
            </a:pPr>
            <a:r>
              <a:rPr lang="en-US" sz="2000" b="1" i="0" u="none" strike="noStrike" cap="none" dirty="0">
                <a:solidFill>
                  <a:srgbClr val="0C0C0C"/>
                </a:solidFill>
                <a:latin typeface="+mj-lt"/>
                <a:ea typeface="Times New Roman"/>
                <a:cs typeface="Times New Roman"/>
                <a:sym typeface="Times New Roman"/>
              </a:rPr>
              <a:t>Submitted </a:t>
            </a:r>
            <a:r>
              <a:rPr lang="en-US" sz="2000" b="1" dirty="0">
                <a:latin typeface="+mj-lt"/>
                <a:sym typeface="Times New Roman"/>
              </a:rPr>
              <a:t>To</a:t>
            </a:r>
            <a:r>
              <a:rPr lang="en-US" sz="2000" b="1" i="0" u="none" strike="noStrike" cap="none" dirty="0">
                <a:solidFill>
                  <a:srgbClr val="0C0C0C"/>
                </a:solidFill>
                <a:latin typeface="+mj-lt"/>
                <a:ea typeface="Times New Roman"/>
                <a:cs typeface="Times New Roman"/>
                <a:sym typeface="Times New Roman"/>
              </a:rPr>
              <a:t>:</a:t>
            </a:r>
          </a:p>
        </p:txBody>
      </p:sp>
      <p:pic>
        <p:nvPicPr>
          <p:cNvPr id="64" name="Google Shape;64;g39f8df10c74_0_0"/>
          <p:cNvPicPr preferRelativeResize="0"/>
          <p:nvPr/>
        </p:nvPicPr>
        <p:blipFill rotWithShape="1">
          <a:blip r:embed="rId3">
            <a:alphaModFix/>
          </a:blip>
          <a:srcRect/>
          <a:stretch/>
        </p:blipFill>
        <p:spPr>
          <a:xfrm>
            <a:off x="3914775" y="5059896"/>
            <a:ext cx="4636742" cy="1182731"/>
          </a:xfrm>
          <a:prstGeom prst="rect">
            <a:avLst/>
          </a:prstGeom>
          <a:noFill/>
          <a:ln>
            <a:noFill/>
          </a:ln>
        </p:spPr>
      </p:pic>
      <p:sp>
        <p:nvSpPr>
          <p:cNvPr id="3" name="TextBox 2">
            <a:extLst>
              <a:ext uri="{FF2B5EF4-FFF2-40B4-BE49-F238E27FC236}">
                <a16:creationId xmlns:a16="http://schemas.microsoft.com/office/drawing/2014/main" id="{A4A53329-6CA7-4C71-D230-2973CDEFD78D}"/>
              </a:ext>
            </a:extLst>
          </p:cNvPr>
          <p:cNvSpPr txBox="1"/>
          <p:nvPr/>
        </p:nvSpPr>
        <p:spPr>
          <a:xfrm>
            <a:off x="3048762" y="1325676"/>
            <a:ext cx="6093618" cy="707846"/>
          </a:xfrm>
          <a:prstGeom prst="rect">
            <a:avLst/>
          </a:prstGeo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PPr>
            <a:lvl1pPr algn="ctr">
              <a:defRPr sz="2000" b="1"/>
            </a:lvl1pPr>
          </a:lstStyle>
          <a:p>
            <a:r>
              <a:rPr lang="en-US" dirty="0">
                <a:sym typeface="Times New Roman"/>
              </a:rPr>
              <a:t>Submitted By:</a:t>
            </a:r>
          </a:p>
          <a:p>
            <a:endParaRPr lang="en-US" dirty="0">
              <a:sym typeface="Times New Roman"/>
            </a:endParaRPr>
          </a:p>
        </p:txBody>
      </p:sp>
      <p:graphicFrame>
        <p:nvGraphicFramePr>
          <p:cNvPr id="4" name="Table 3">
            <a:extLst>
              <a:ext uri="{FF2B5EF4-FFF2-40B4-BE49-F238E27FC236}">
                <a16:creationId xmlns:a16="http://schemas.microsoft.com/office/drawing/2014/main" id="{0F673538-FD82-2232-9F60-94029B25FAE8}"/>
              </a:ext>
            </a:extLst>
          </p:cNvPr>
          <p:cNvGraphicFramePr>
            <a:graphicFrameLocks noGrp="1"/>
          </p:cNvGraphicFramePr>
          <p:nvPr>
            <p:extLst>
              <p:ext uri="{D42A27DB-BD31-4B8C-83A1-F6EECF244321}">
                <p14:modId xmlns:p14="http://schemas.microsoft.com/office/powerpoint/2010/main" val="371882392"/>
              </p:ext>
            </p:extLst>
          </p:nvPr>
        </p:nvGraphicFramePr>
        <p:xfrm>
          <a:off x="2031571" y="1846053"/>
          <a:ext cx="8128000" cy="2590800"/>
        </p:xfrm>
        <a:graphic>
          <a:graphicData uri="http://schemas.openxmlformats.org/drawingml/2006/table">
            <a:tbl>
              <a:tblPr firstRow="1" bandRow="1">
                <a:tableStyleId>{2D5ABB26-0587-4C30-8999-92F81FD0307C}</a:tableStyleId>
              </a:tblPr>
              <a:tblGrid>
                <a:gridCol w="4064000">
                  <a:extLst>
                    <a:ext uri="{9D8B030D-6E8A-4147-A177-3AD203B41FA5}">
                      <a16:colId xmlns:a16="http://schemas.microsoft.com/office/drawing/2014/main" val="671435578"/>
                    </a:ext>
                  </a:extLst>
                </a:gridCol>
                <a:gridCol w="4064000">
                  <a:extLst>
                    <a:ext uri="{9D8B030D-6E8A-4147-A177-3AD203B41FA5}">
                      <a16:colId xmlns:a16="http://schemas.microsoft.com/office/drawing/2014/main" val="4054775712"/>
                    </a:ext>
                  </a:extLst>
                </a:gridCol>
              </a:tblGrid>
              <a:tr h="370840">
                <a:tc>
                  <a:txBody>
                    <a:bodyPr/>
                    <a:lstStyle/>
                    <a:p>
                      <a:pPr algn="r"/>
                      <a:r>
                        <a:rPr lang="en-US" sz="2000" b="1" dirty="0">
                          <a:sym typeface="Times New Roman"/>
                        </a:rPr>
                        <a:t>Khushi Chokshi:</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2000" b="1" dirty="0">
                          <a:sym typeface="Times New Roman"/>
                        </a:rPr>
                        <a:t>23082291057</a:t>
                      </a:r>
                      <a:endParaRPr lang="en-IN" sz="2000" b="1"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68504702"/>
                  </a:ext>
                </a:extLst>
              </a:tr>
              <a:tr h="370840">
                <a:tc>
                  <a:txBody>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lang="en-US" sz="2000" b="1" dirty="0">
                          <a:sym typeface="Times New Roman"/>
                        </a:rPr>
                        <a:t>Vyom Amin :</a:t>
                      </a:r>
                      <a:endParaRPr lang="en-US" sz="2000" b="1" dirty="0">
                        <a:sym typeface="Calibri"/>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2000" b="1" dirty="0">
                          <a:sym typeface="Times New Roman"/>
                        </a:rPr>
                        <a:t>23082291111</a:t>
                      </a:r>
                      <a:endParaRPr lang="en-IN" sz="2000" b="1"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11915043"/>
                  </a:ext>
                </a:extLst>
              </a:tr>
              <a:tr h="370840">
                <a:tc>
                  <a:txBody>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endParaRPr lang="en-US" sz="2000" b="1" dirty="0">
                        <a:sym typeface="Calibri"/>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IN" sz="2000" b="1"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418328822"/>
                  </a:ext>
                </a:extLst>
              </a:tr>
              <a:tr h="370840">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2000" b="1" dirty="0"/>
                        <a:t>B.Sc. IT (Cyber Security) Semester-V</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n-US" sz="2000" b="1"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IN" sz="2000" b="1"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92094077"/>
                  </a:ext>
                </a:extLst>
              </a:tr>
              <a:tr h="370840">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2000" b="1" dirty="0"/>
                        <a:t>Internal Guide</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2000" b="1" dirty="0"/>
                        <a:t>Prof. Chetana Prajapati</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IN"/>
                    </a:p>
                  </a:txBody>
                  <a:tcPr/>
                </a:tc>
                <a:extLst>
                  <a:ext uri="{0D108BD9-81ED-4DB2-BD59-A6C34878D82A}">
                    <a16:rowId xmlns:a16="http://schemas.microsoft.com/office/drawing/2014/main" val="3277065259"/>
                  </a:ext>
                </a:extLst>
              </a:tr>
            </a:tbl>
          </a:graphicData>
        </a:graphic>
      </p:graphicFrame>
      <p:sp>
        <p:nvSpPr>
          <p:cNvPr id="5" name="Google Shape;63;g39f8df10c74_0_0">
            <a:extLst>
              <a:ext uri="{FF2B5EF4-FFF2-40B4-BE49-F238E27FC236}">
                <a16:creationId xmlns:a16="http://schemas.microsoft.com/office/drawing/2014/main" id="{833AB01D-5C77-90FB-DA12-36A3ED5E8FDC}"/>
              </a:ext>
            </a:extLst>
          </p:cNvPr>
          <p:cNvSpPr txBox="1"/>
          <p:nvPr/>
        </p:nvSpPr>
        <p:spPr>
          <a:xfrm>
            <a:off x="3048762" y="6356905"/>
            <a:ext cx="6094500" cy="40006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chemeClr val="dk1"/>
              </a:buClr>
              <a:buSzPts val="1800"/>
              <a:buFont typeface="Arial"/>
              <a:buNone/>
            </a:pPr>
            <a:r>
              <a:rPr lang="en-US" sz="2000" b="1" i="0" u="none" strike="noStrike" cap="none" dirty="0">
                <a:solidFill>
                  <a:srgbClr val="0C0C0C"/>
                </a:solidFill>
                <a:latin typeface="+mj-lt"/>
                <a:ea typeface="Times New Roman"/>
                <a:cs typeface="Times New Roman"/>
                <a:sym typeface="Times New Roman"/>
              </a:rPr>
              <a:t>JULY-NOV 2025</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83494-99E2-7EBD-DC10-000DF20CDDFD}"/>
              </a:ext>
            </a:extLst>
          </p:cNvPr>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PROJECT PROFILE</a:t>
            </a:r>
          </a:p>
        </p:txBody>
      </p:sp>
      <p:graphicFrame>
        <p:nvGraphicFramePr>
          <p:cNvPr id="4" name="Content Placeholder 3">
            <a:extLst>
              <a:ext uri="{FF2B5EF4-FFF2-40B4-BE49-F238E27FC236}">
                <a16:creationId xmlns:a16="http://schemas.microsoft.com/office/drawing/2014/main" id="{E46C60E6-294E-21EB-3AEE-0EC10832B27D}"/>
              </a:ext>
            </a:extLst>
          </p:cNvPr>
          <p:cNvGraphicFramePr>
            <a:graphicFrameLocks noGrp="1"/>
          </p:cNvGraphicFramePr>
          <p:nvPr>
            <p:ph idx="1"/>
            <p:extLst>
              <p:ext uri="{D42A27DB-BD31-4B8C-83A1-F6EECF244321}">
                <p14:modId xmlns:p14="http://schemas.microsoft.com/office/powerpoint/2010/main" val="2641424190"/>
              </p:ext>
            </p:extLst>
          </p:nvPr>
        </p:nvGraphicFramePr>
        <p:xfrm>
          <a:off x="866274" y="1825625"/>
          <a:ext cx="10487526" cy="4079240"/>
        </p:xfrm>
        <a:graphic>
          <a:graphicData uri="http://schemas.openxmlformats.org/drawingml/2006/table">
            <a:tbl>
              <a:tblPr firstRow="1" bandRow="1">
                <a:tableStyleId>{5940675A-B579-460E-94D1-54222C63F5DA}</a:tableStyleId>
              </a:tblPr>
              <a:tblGrid>
                <a:gridCol w="2260974">
                  <a:extLst>
                    <a:ext uri="{9D8B030D-6E8A-4147-A177-3AD203B41FA5}">
                      <a16:colId xmlns:a16="http://schemas.microsoft.com/office/drawing/2014/main" val="2667112314"/>
                    </a:ext>
                  </a:extLst>
                </a:gridCol>
                <a:gridCol w="8226552">
                  <a:extLst>
                    <a:ext uri="{9D8B030D-6E8A-4147-A177-3AD203B41FA5}">
                      <a16:colId xmlns:a16="http://schemas.microsoft.com/office/drawing/2014/main" val="810601725"/>
                    </a:ext>
                  </a:extLst>
                </a:gridCol>
              </a:tblGrid>
              <a:tr h="370840">
                <a:tc>
                  <a:txBody>
                    <a:bodyPr/>
                    <a:lstStyle/>
                    <a:p>
                      <a:r>
                        <a:rPr lang="en-IN" sz="1600" b="1" dirty="0">
                          <a:latin typeface="Times New Roman" panose="02020603050405020304" pitchFamily="18" charset="0"/>
                          <a:cs typeface="Times New Roman" panose="02020603050405020304" pitchFamily="18" charset="0"/>
                        </a:rPr>
                        <a:t>PROJECT TITLE:</a:t>
                      </a:r>
                    </a:p>
                  </a:txBody>
                  <a:tcPr/>
                </a:tc>
                <a:tc>
                  <a:txBody>
                    <a:bodyPr/>
                    <a:lstStyle/>
                    <a:p>
                      <a:r>
                        <a:rPr lang="en-US" sz="1600" dirty="0">
                          <a:latin typeface="Times New Roman" panose="02020603050405020304" pitchFamily="18" charset="0"/>
                          <a:cs typeface="Times New Roman" panose="02020603050405020304" pitchFamily="18" charset="0"/>
                        </a:rPr>
                        <a:t>Password Cracking </a:t>
                      </a:r>
                    </a:p>
                  </a:txBody>
                  <a:tcPr/>
                </a:tc>
                <a:extLst>
                  <a:ext uri="{0D108BD9-81ED-4DB2-BD59-A6C34878D82A}">
                    <a16:rowId xmlns:a16="http://schemas.microsoft.com/office/drawing/2014/main" val="537288857"/>
                  </a:ext>
                </a:extLst>
              </a:tr>
              <a:tr h="145950">
                <a:tc>
                  <a:txBody>
                    <a:bodyPr/>
                    <a:lstStyle/>
                    <a:p>
                      <a:r>
                        <a:rPr lang="en-IN" sz="1600" b="1" dirty="0">
                          <a:latin typeface="Times New Roman" panose="02020603050405020304" pitchFamily="18" charset="0"/>
                          <a:cs typeface="Times New Roman" panose="02020603050405020304" pitchFamily="18" charset="0"/>
                        </a:rPr>
                        <a:t>OBJECTIVE:</a:t>
                      </a:r>
                    </a:p>
                  </a:txBody>
                  <a:tcPr/>
                </a:tc>
                <a:tc>
                  <a:txBody>
                    <a:bodyPr/>
                    <a:lstStyle/>
                    <a:p>
                      <a:r>
                        <a:rPr lang="en-US" sz="1600" dirty="0"/>
                        <a:t>Aspiring penetration tester seeking opportunities to apply ethical password auditing and vulnerability assessment skills to strengthen organizational authentication controls and reduce account compromise risk.</a:t>
                      </a:r>
                      <a:endParaRPr lang="en-US" sz="1600" b="0" i="0" kern="1200" dirty="0">
                        <a:solidFill>
                          <a:schemeClr val="tx1"/>
                        </a:solidFill>
                        <a:effectLst/>
                        <a:latin typeface="Times New Roman" panose="02020603050405020304" pitchFamily="18" charset="0"/>
                        <a:ea typeface="+mn-ea"/>
                        <a:cs typeface="Times New Roman" panose="02020603050405020304" pitchFamily="18" charset="0"/>
                      </a:endParaRPr>
                    </a:p>
                    <a:p>
                      <a:endParaRPr lang="en-US" sz="1600" b="0" i="0" kern="1200" dirty="0">
                        <a:solidFill>
                          <a:schemeClr val="tx1"/>
                        </a:solidFill>
                        <a:effectLst/>
                        <a:latin typeface="Times New Roman" panose="02020603050405020304" pitchFamily="18" charset="0"/>
                        <a:ea typeface="+mn-ea"/>
                        <a:cs typeface="Times New Roman" panose="02020603050405020304" pitchFamily="18" charset="0"/>
                      </a:endParaRPr>
                    </a:p>
                  </a:txBody>
                  <a:tcPr/>
                </a:tc>
                <a:extLst>
                  <a:ext uri="{0D108BD9-81ED-4DB2-BD59-A6C34878D82A}">
                    <a16:rowId xmlns:a16="http://schemas.microsoft.com/office/drawing/2014/main" val="1247643644"/>
                  </a:ext>
                </a:extLst>
              </a:tr>
              <a:tr h="370840">
                <a:tc>
                  <a:txBody>
                    <a:bodyPr/>
                    <a:lstStyle/>
                    <a:p>
                      <a:r>
                        <a:rPr lang="en-IN" sz="1600" b="1" dirty="0">
                          <a:latin typeface="Times New Roman" panose="02020603050405020304" pitchFamily="18" charset="0"/>
                          <a:cs typeface="Times New Roman" panose="02020603050405020304" pitchFamily="18" charset="0"/>
                        </a:rPr>
                        <a:t>SUPPORT TOOLS and Technology:</a:t>
                      </a:r>
                    </a:p>
                  </a:txBody>
                  <a:tcPr/>
                </a:tc>
                <a:tc>
                  <a:txBody>
                    <a:bodyPr/>
                    <a:lstStyle/>
                    <a:p>
                      <a:r>
                        <a:rPr lang="en-US" sz="1600" dirty="0">
                          <a:latin typeface="Times New Roman" panose="02020603050405020304" pitchFamily="18" charset="0"/>
                          <a:cs typeface="Times New Roman" panose="02020603050405020304" pitchFamily="18" charset="0"/>
                        </a:rPr>
                        <a:t>H</a:t>
                      </a:r>
                      <a:r>
                        <a:rPr lang="en-IN" sz="1600" dirty="0" err="1">
                          <a:latin typeface="Times New Roman" panose="02020603050405020304" pitchFamily="18" charset="0"/>
                          <a:cs typeface="Times New Roman" panose="02020603050405020304" pitchFamily="18" charset="0"/>
                        </a:rPr>
                        <a:t>tml</a:t>
                      </a:r>
                      <a:r>
                        <a:rPr lang="en-IN" sz="1600" dirty="0">
                          <a:latin typeface="Times New Roman" panose="02020603050405020304" pitchFamily="18" charset="0"/>
                          <a:cs typeface="Times New Roman" panose="02020603050405020304" pitchFamily="18" charset="0"/>
                        </a:rPr>
                        <a:t> , </a:t>
                      </a:r>
                      <a:r>
                        <a:rPr lang="en-IN" sz="1600" dirty="0" err="1">
                          <a:latin typeface="Times New Roman" panose="02020603050405020304" pitchFamily="18" charset="0"/>
                          <a:cs typeface="Times New Roman" panose="02020603050405020304" pitchFamily="18" charset="0"/>
                        </a:rPr>
                        <a:t>css</a:t>
                      </a:r>
                      <a:r>
                        <a:rPr lang="en-IN" sz="1600" dirty="0">
                          <a:latin typeface="Times New Roman" panose="02020603050405020304" pitchFamily="18" charset="0"/>
                          <a:cs typeface="Times New Roman" panose="02020603050405020304" pitchFamily="18" charset="0"/>
                        </a:rPr>
                        <a:t> , </a:t>
                      </a:r>
                      <a:r>
                        <a:rPr lang="en-IN" sz="1600" dirty="0" err="1">
                          <a:latin typeface="Times New Roman" panose="02020603050405020304" pitchFamily="18" charset="0"/>
                          <a:cs typeface="Times New Roman" panose="02020603050405020304" pitchFamily="18" charset="0"/>
                        </a:rPr>
                        <a:t>javascript,VsCode</a:t>
                      </a:r>
                      <a:endParaRPr lang="en-IN"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496789620"/>
                  </a:ext>
                </a:extLst>
              </a:tr>
              <a:tr h="370840">
                <a:tc>
                  <a:txBody>
                    <a:bodyPr/>
                    <a:lstStyle/>
                    <a:p>
                      <a:r>
                        <a:rPr lang="en-IN" sz="1600" b="1" dirty="0">
                          <a:latin typeface="Times New Roman" panose="02020603050405020304" pitchFamily="18" charset="0"/>
                          <a:cs typeface="Times New Roman" panose="02020603050405020304" pitchFamily="18" charset="0"/>
                        </a:rPr>
                        <a:t>OPERATING SYSTEM:</a:t>
                      </a:r>
                    </a:p>
                  </a:txBody>
                  <a:tcPr/>
                </a:tc>
                <a:tc>
                  <a:txBody>
                    <a:bodyPr/>
                    <a:lstStyle/>
                    <a:p>
                      <a:r>
                        <a:rPr lang="en-IN" sz="1600" dirty="0">
                          <a:latin typeface="Times New Roman" panose="02020603050405020304" pitchFamily="18" charset="0"/>
                          <a:cs typeface="Times New Roman" panose="02020603050405020304" pitchFamily="18" charset="0"/>
                        </a:rPr>
                        <a:t>Windows 10/11 </a:t>
                      </a:r>
                    </a:p>
                  </a:txBody>
                  <a:tcPr/>
                </a:tc>
                <a:extLst>
                  <a:ext uri="{0D108BD9-81ED-4DB2-BD59-A6C34878D82A}">
                    <a16:rowId xmlns:a16="http://schemas.microsoft.com/office/drawing/2014/main" val="1165351579"/>
                  </a:ext>
                </a:extLst>
              </a:tr>
              <a:tr h="370840">
                <a:tc>
                  <a:txBody>
                    <a:bodyPr/>
                    <a:lstStyle/>
                    <a:p>
                      <a:r>
                        <a:rPr lang="en-IN" sz="1600" b="1" dirty="0">
                          <a:latin typeface="Times New Roman" panose="02020603050405020304" pitchFamily="18" charset="0"/>
                          <a:cs typeface="Times New Roman" panose="02020603050405020304" pitchFamily="18" charset="0"/>
                        </a:rPr>
                        <a:t>GUIDE:</a:t>
                      </a:r>
                    </a:p>
                  </a:txBody>
                  <a:tcPr/>
                </a:tc>
                <a:tc>
                  <a:txBody>
                    <a:bodyPr/>
                    <a:lstStyle/>
                    <a:p>
                      <a:r>
                        <a:rPr lang="en-IN" sz="1600" dirty="0">
                          <a:latin typeface="Times New Roman" panose="02020603050405020304" pitchFamily="18" charset="0"/>
                          <a:cs typeface="Times New Roman" panose="02020603050405020304" pitchFamily="18" charset="0"/>
                        </a:rPr>
                        <a:t> Prof. Kashyap C. Patel</a:t>
                      </a:r>
                    </a:p>
                  </a:txBody>
                  <a:tcPr/>
                </a:tc>
                <a:extLst>
                  <a:ext uri="{0D108BD9-81ED-4DB2-BD59-A6C34878D82A}">
                    <a16:rowId xmlns:a16="http://schemas.microsoft.com/office/drawing/2014/main" val="361817408"/>
                  </a:ext>
                </a:extLst>
              </a:tr>
              <a:tr h="370840">
                <a:tc>
                  <a:txBody>
                    <a:bodyPr/>
                    <a:lstStyle/>
                    <a:p>
                      <a:r>
                        <a:rPr lang="en-IN" sz="1600" b="1" dirty="0">
                          <a:latin typeface="Times New Roman" panose="02020603050405020304" pitchFamily="18" charset="0"/>
                          <a:cs typeface="Times New Roman" panose="02020603050405020304" pitchFamily="18" charset="0"/>
                        </a:rPr>
                        <a:t>GROUP NO:</a:t>
                      </a:r>
                    </a:p>
                  </a:txBody>
                  <a:tcPr/>
                </a:tc>
                <a:tc>
                  <a:txBody>
                    <a:bodyPr/>
                    <a:lstStyle/>
                    <a:p>
                      <a:r>
                        <a:rPr lang="en-IN" sz="1600" dirty="0">
                          <a:latin typeface="Times New Roman" panose="02020603050405020304" pitchFamily="18" charset="0"/>
                          <a:cs typeface="Times New Roman" panose="02020603050405020304" pitchFamily="18" charset="0"/>
                        </a:rPr>
                        <a:t> -</a:t>
                      </a:r>
                    </a:p>
                  </a:txBody>
                  <a:tcPr/>
                </a:tc>
                <a:extLst>
                  <a:ext uri="{0D108BD9-81ED-4DB2-BD59-A6C34878D82A}">
                    <a16:rowId xmlns:a16="http://schemas.microsoft.com/office/drawing/2014/main" val="3935748415"/>
                  </a:ext>
                </a:extLst>
              </a:tr>
              <a:tr h="370840">
                <a:tc>
                  <a:txBody>
                    <a:bodyPr/>
                    <a:lstStyle/>
                    <a:p>
                      <a:r>
                        <a:rPr lang="en-IN" sz="1600" b="1" dirty="0">
                          <a:latin typeface="Times New Roman" panose="02020603050405020304" pitchFamily="18" charset="0"/>
                          <a:cs typeface="Times New Roman" panose="02020603050405020304" pitchFamily="18" charset="0"/>
                        </a:rPr>
                        <a:t>SUBMITTED BY:</a:t>
                      </a:r>
                    </a:p>
                  </a:txBody>
                  <a:tcPr/>
                </a:tc>
                <a:tc>
                  <a:txBody>
                    <a:bodyPr/>
                    <a:lstStyle/>
                    <a:p>
                      <a:r>
                        <a:rPr lang="en-US" sz="1600" dirty="0">
                          <a:latin typeface="Times New Roman" panose="02020603050405020304" pitchFamily="18" charset="0"/>
                          <a:cs typeface="Times New Roman" panose="02020603050405020304" pitchFamily="18" charset="0"/>
                        </a:rPr>
                        <a:t>Khushi Chokshi (23082291057), Vyom Amin (23082291111)</a:t>
                      </a:r>
                      <a:endParaRPr lang="en-IN"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777462956"/>
                  </a:ext>
                </a:extLst>
              </a:tr>
              <a:tr h="370840">
                <a:tc>
                  <a:txBody>
                    <a:bodyPr/>
                    <a:lstStyle/>
                    <a:p>
                      <a:r>
                        <a:rPr lang="en-IN" sz="1600" b="1" dirty="0">
                          <a:latin typeface="Times New Roman" panose="02020603050405020304" pitchFamily="18" charset="0"/>
                          <a:cs typeface="Times New Roman" panose="02020603050405020304" pitchFamily="18" charset="0"/>
                        </a:rPr>
                        <a:t>SUBMITTED TO:</a:t>
                      </a:r>
                    </a:p>
                  </a:txBody>
                  <a:tcPr/>
                </a:tc>
                <a:tc>
                  <a:txBody>
                    <a:bodyPr/>
                    <a:lstStyle/>
                    <a:p>
                      <a:r>
                        <a:rPr lang="en-US" sz="1600" dirty="0">
                          <a:latin typeface="Times New Roman" panose="02020603050405020304" pitchFamily="18" charset="0"/>
                          <a:cs typeface="Times New Roman" panose="02020603050405020304" pitchFamily="18" charset="0"/>
                        </a:rPr>
                        <a:t>Department Of Computer Science</a:t>
                      </a:r>
                      <a:endParaRPr lang="en-IN"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538089673"/>
                  </a:ext>
                </a:extLst>
              </a:tr>
            </a:tbl>
          </a:graphicData>
        </a:graphic>
      </p:graphicFrame>
    </p:spTree>
    <p:extLst>
      <p:ext uri="{BB962C8B-B14F-4D97-AF65-F5344CB8AC3E}">
        <p14:creationId xmlns:p14="http://schemas.microsoft.com/office/powerpoint/2010/main" val="41623681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F19424-211E-FAE0-B9B9-E35BDA6E9921}"/>
              </a:ext>
            </a:extLst>
          </p:cNvPr>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REQUIREMENTS</a:t>
            </a:r>
          </a:p>
        </p:txBody>
      </p:sp>
      <p:graphicFrame>
        <p:nvGraphicFramePr>
          <p:cNvPr id="4" name="Content Placeholder 3">
            <a:extLst>
              <a:ext uri="{FF2B5EF4-FFF2-40B4-BE49-F238E27FC236}">
                <a16:creationId xmlns:a16="http://schemas.microsoft.com/office/drawing/2014/main" id="{181C5010-21E6-994B-7EF5-1B27DB56414E}"/>
              </a:ext>
            </a:extLst>
          </p:cNvPr>
          <p:cNvGraphicFramePr>
            <a:graphicFrameLocks noGrp="1"/>
          </p:cNvGraphicFramePr>
          <p:nvPr>
            <p:ph idx="1"/>
            <p:extLst>
              <p:ext uri="{D42A27DB-BD31-4B8C-83A1-F6EECF244321}">
                <p14:modId xmlns:p14="http://schemas.microsoft.com/office/powerpoint/2010/main" val="2294824375"/>
              </p:ext>
            </p:extLst>
          </p:nvPr>
        </p:nvGraphicFramePr>
        <p:xfrm>
          <a:off x="838200" y="1825624"/>
          <a:ext cx="4849368" cy="4061826"/>
        </p:xfrm>
        <a:graphic>
          <a:graphicData uri="http://schemas.openxmlformats.org/drawingml/2006/table">
            <a:tbl>
              <a:tblPr firstRow="1" bandRow="1">
                <a:tableStyleId>{5C22544A-7EE6-4342-B048-85BDC9FD1C3A}</a:tableStyleId>
              </a:tblPr>
              <a:tblGrid>
                <a:gridCol w="2424684">
                  <a:extLst>
                    <a:ext uri="{9D8B030D-6E8A-4147-A177-3AD203B41FA5}">
                      <a16:colId xmlns:a16="http://schemas.microsoft.com/office/drawing/2014/main" val="2510223486"/>
                    </a:ext>
                  </a:extLst>
                </a:gridCol>
                <a:gridCol w="2424684">
                  <a:extLst>
                    <a:ext uri="{9D8B030D-6E8A-4147-A177-3AD203B41FA5}">
                      <a16:colId xmlns:a16="http://schemas.microsoft.com/office/drawing/2014/main" val="1610121814"/>
                    </a:ext>
                  </a:extLst>
                </a:gridCol>
              </a:tblGrid>
              <a:tr h="676971">
                <a:tc gridSpan="2">
                  <a:txBody>
                    <a:bodyPr/>
                    <a:lstStyle/>
                    <a:p>
                      <a:pPr algn="ctr"/>
                      <a:r>
                        <a:rPr lang="en-IN" sz="2800" dirty="0">
                          <a:latin typeface="Times New Roman" panose="02020603050405020304" pitchFamily="18" charset="0"/>
                          <a:cs typeface="Times New Roman" panose="02020603050405020304" pitchFamily="18" charset="0"/>
                        </a:rPr>
                        <a:t>SYSTEM REQUIREMENTS</a:t>
                      </a:r>
                    </a:p>
                  </a:txBody>
                  <a:tcPr/>
                </a:tc>
                <a:tc hMerge="1">
                  <a:txBody>
                    <a:bodyPr/>
                    <a:lstStyle/>
                    <a:p>
                      <a:endParaRPr lang="en-IN" dirty="0"/>
                    </a:p>
                  </a:txBody>
                  <a:tcPr/>
                </a:tc>
                <a:extLst>
                  <a:ext uri="{0D108BD9-81ED-4DB2-BD59-A6C34878D82A}">
                    <a16:rowId xmlns:a16="http://schemas.microsoft.com/office/drawing/2014/main" val="2987396768"/>
                  </a:ext>
                </a:extLst>
              </a:tr>
              <a:tr h="676971">
                <a:tc>
                  <a:txBody>
                    <a:bodyPr/>
                    <a:lstStyle/>
                    <a:p>
                      <a:r>
                        <a:rPr lang="en-IN" dirty="0">
                          <a:latin typeface="Times New Roman" panose="02020603050405020304" pitchFamily="18" charset="0"/>
                          <a:cs typeface="Times New Roman" panose="02020603050405020304" pitchFamily="18" charset="0"/>
                        </a:rPr>
                        <a:t>PROCESSOR</a:t>
                      </a:r>
                    </a:p>
                  </a:txBody>
                  <a:tcPr/>
                </a:tc>
                <a:tc>
                  <a:txBody>
                    <a:bodyPr/>
                    <a:lstStyle/>
                    <a:p>
                      <a:r>
                        <a:rPr lang="en-IN" dirty="0">
                          <a:latin typeface="Times New Roman" panose="02020603050405020304" pitchFamily="18" charset="0"/>
                          <a:cs typeface="Times New Roman" panose="02020603050405020304" pitchFamily="18" charset="0"/>
                        </a:rPr>
                        <a:t>4 CORES(Minimum)</a:t>
                      </a:r>
                    </a:p>
                  </a:txBody>
                  <a:tcPr/>
                </a:tc>
                <a:extLst>
                  <a:ext uri="{0D108BD9-81ED-4DB2-BD59-A6C34878D82A}">
                    <a16:rowId xmlns:a16="http://schemas.microsoft.com/office/drawing/2014/main" val="244591964"/>
                  </a:ext>
                </a:extLst>
              </a:tr>
              <a:tr h="676971">
                <a:tc>
                  <a:txBody>
                    <a:bodyPr/>
                    <a:lstStyle/>
                    <a:p>
                      <a:r>
                        <a:rPr lang="en-IN" dirty="0">
                          <a:latin typeface="Times New Roman" panose="02020603050405020304" pitchFamily="18" charset="0"/>
                          <a:cs typeface="Times New Roman" panose="02020603050405020304" pitchFamily="18" charset="0"/>
                        </a:rPr>
                        <a:t>RAM</a:t>
                      </a:r>
                    </a:p>
                  </a:txBody>
                  <a:tcPr/>
                </a:tc>
                <a:tc>
                  <a:txBody>
                    <a:bodyPr/>
                    <a:lstStyle/>
                    <a:p>
                      <a:r>
                        <a:rPr lang="en-IN" dirty="0">
                          <a:latin typeface="Times New Roman" panose="02020603050405020304" pitchFamily="18" charset="0"/>
                          <a:cs typeface="Times New Roman" panose="02020603050405020304" pitchFamily="18" charset="0"/>
                        </a:rPr>
                        <a:t>8GB(Minimum)</a:t>
                      </a:r>
                    </a:p>
                    <a:p>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392693865"/>
                  </a:ext>
                </a:extLst>
              </a:tr>
              <a:tr h="676971">
                <a:tc>
                  <a:txBody>
                    <a:bodyPr/>
                    <a:lstStyle/>
                    <a:p>
                      <a:r>
                        <a:rPr lang="en-IN" dirty="0">
                          <a:latin typeface="Times New Roman" panose="02020603050405020304" pitchFamily="18" charset="0"/>
                          <a:cs typeface="Times New Roman" panose="02020603050405020304" pitchFamily="18" charset="0"/>
                        </a:rPr>
                        <a:t>OS </a:t>
                      </a:r>
                    </a:p>
                  </a:txBody>
                  <a:tcPr/>
                </a:tc>
                <a:tc>
                  <a:txBody>
                    <a:bodyPr/>
                    <a:lstStyle/>
                    <a:p>
                      <a:r>
                        <a:rPr lang="en-IN" dirty="0">
                          <a:latin typeface="Times New Roman" panose="02020603050405020304" pitchFamily="18" charset="0"/>
                          <a:cs typeface="Times New Roman" panose="02020603050405020304" pitchFamily="18" charset="0"/>
                        </a:rPr>
                        <a:t>Windows 10/11</a:t>
                      </a:r>
                    </a:p>
                  </a:txBody>
                  <a:tcPr/>
                </a:tc>
                <a:extLst>
                  <a:ext uri="{0D108BD9-81ED-4DB2-BD59-A6C34878D82A}">
                    <a16:rowId xmlns:a16="http://schemas.microsoft.com/office/drawing/2014/main" val="523691727"/>
                  </a:ext>
                </a:extLst>
              </a:tr>
              <a:tr h="676971">
                <a:tc>
                  <a:txBody>
                    <a:bodyPr/>
                    <a:lstStyle/>
                    <a:p>
                      <a:r>
                        <a:rPr lang="en-IN" dirty="0">
                          <a:latin typeface="Times New Roman" panose="02020603050405020304" pitchFamily="18" charset="0"/>
                          <a:cs typeface="Times New Roman" panose="02020603050405020304" pitchFamily="18" charset="0"/>
                        </a:rPr>
                        <a:t>SHELL</a:t>
                      </a:r>
                    </a:p>
                  </a:txBody>
                  <a:tcPr/>
                </a:tc>
                <a:tc>
                  <a:txBody>
                    <a:bodyPr/>
                    <a:lstStyle/>
                    <a:p>
                      <a:r>
                        <a:rPr lang="en-IN" dirty="0">
                          <a:latin typeface="Times New Roman" panose="02020603050405020304" pitchFamily="18" charset="0"/>
                          <a:cs typeface="Times New Roman" panose="02020603050405020304" pitchFamily="18" charset="0"/>
                        </a:rPr>
                        <a:t>Windows PowerShell</a:t>
                      </a:r>
                    </a:p>
                  </a:txBody>
                  <a:tcPr/>
                </a:tc>
                <a:extLst>
                  <a:ext uri="{0D108BD9-81ED-4DB2-BD59-A6C34878D82A}">
                    <a16:rowId xmlns:a16="http://schemas.microsoft.com/office/drawing/2014/main" val="3702611750"/>
                  </a:ext>
                </a:extLst>
              </a:tr>
              <a:tr h="676971">
                <a:tc>
                  <a:txBody>
                    <a:bodyPr/>
                    <a:lstStyle/>
                    <a:p>
                      <a:r>
                        <a:rPr lang="en-US" dirty="0">
                          <a:latin typeface="Times New Roman" panose="02020603050405020304" pitchFamily="18" charset="0"/>
                          <a:cs typeface="Times New Roman" panose="02020603050405020304" pitchFamily="18" charset="0"/>
                        </a:rPr>
                        <a:t>V</a:t>
                      </a:r>
                      <a:r>
                        <a:rPr lang="en-IN" dirty="0">
                          <a:latin typeface="Times New Roman" panose="02020603050405020304" pitchFamily="18" charset="0"/>
                          <a:cs typeface="Times New Roman" panose="02020603050405020304" pitchFamily="18" charset="0"/>
                        </a:rPr>
                        <a:t>S code </a:t>
                      </a:r>
                    </a:p>
                  </a:txBody>
                  <a:tcPr/>
                </a:tc>
                <a:tc>
                  <a:txBody>
                    <a:bodyPr/>
                    <a:lstStyle/>
                    <a:p>
                      <a:r>
                        <a:rPr lang="en-US" dirty="0">
                          <a:latin typeface="Times New Roman" panose="02020603050405020304" pitchFamily="18" charset="0"/>
                          <a:cs typeface="Times New Roman" panose="02020603050405020304" pitchFamily="18" charset="0"/>
                        </a:rPr>
                        <a:t>VS code1.104</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606550016"/>
                  </a:ext>
                </a:extLst>
              </a:tr>
            </a:tbl>
          </a:graphicData>
        </a:graphic>
      </p:graphicFrame>
      <p:graphicFrame>
        <p:nvGraphicFramePr>
          <p:cNvPr id="5" name="Table 4">
            <a:extLst>
              <a:ext uri="{FF2B5EF4-FFF2-40B4-BE49-F238E27FC236}">
                <a16:creationId xmlns:a16="http://schemas.microsoft.com/office/drawing/2014/main" id="{3D5AC894-8845-6CA2-2061-01DB2D2ADBCA}"/>
              </a:ext>
            </a:extLst>
          </p:cNvPr>
          <p:cNvGraphicFramePr>
            <a:graphicFrameLocks noGrp="1"/>
          </p:cNvGraphicFramePr>
          <p:nvPr>
            <p:extLst>
              <p:ext uri="{D42A27DB-BD31-4B8C-83A1-F6EECF244321}">
                <p14:modId xmlns:p14="http://schemas.microsoft.com/office/powerpoint/2010/main" val="3260890440"/>
              </p:ext>
            </p:extLst>
          </p:nvPr>
        </p:nvGraphicFramePr>
        <p:xfrm>
          <a:off x="6593305" y="1941095"/>
          <a:ext cx="4760496" cy="2005450"/>
        </p:xfrm>
        <a:graphic>
          <a:graphicData uri="http://schemas.openxmlformats.org/drawingml/2006/table">
            <a:tbl>
              <a:tblPr firstRow="1" bandRow="1">
                <a:tableStyleId>{5C22544A-7EE6-4342-B048-85BDC9FD1C3A}</a:tableStyleId>
              </a:tblPr>
              <a:tblGrid>
                <a:gridCol w="2396290">
                  <a:extLst>
                    <a:ext uri="{9D8B030D-6E8A-4147-A177-3AD203B41FA5}">
                      <a16:colId xmlns:a16="http://schemas.microsoft.com/office/drawing/2014/main" val="1369811690"/>
                    </a:ext>
                  </a:extLst>
                </a:gridCol>
                <a:gridCol w="2364206">
                  <a:extLst>
                    <a:ext uri="{9D8B030D-6E8A-4147-A177-3AD203B41FA5}">
                      <a16:colId xmlns:a16="http://schemas.microsoft.com/office/drawing/2014/main" val="3653242287"/>
                    </a:ext>
                  </a:extLst>
                </a:gridCol>
              </a:tblGrid>
              <a:tr h="831528">
                <a:tc gridSpan="2">
                  <a:txBody>
                    <a:bodyPr/>
                    <a:lstStyle/>
                    <a:p>
                      <a:pPr algn="ctr"/>
                      <a:r>
                        <a:rPr lang="en-IN" sz="2800" dirty="0">
                          <a:latin typeface="Times New Roman" panose="02020603050405020304" pitchFamily="18" charset="0"/>
                          <a:cs typeface="Times New Roman" panose="02020603050405020304" pitchFamily="18" charset="0"/>
                        </a:rPr>
                        <a:t>SYSTEM REQUIREMENTS</a:t>
                      </a:r>
                    </a:p>
                  </a:txBody>
                  <a:tcPr/>
                </a:tc>
                <a:tc hMerge="1">
                  <a:txBody>
                    <a:bodyPr/>
                    <a:lstStyle/>
                    <a:p>
                      <a:endParaRPr lang="en-IN" dirty="0"/>
                    </a:p>
                  </a:txBody>
                  <a:tcPr/>
                </a:tc>
                <a:extLst>
                  <a:ext uri="{0D108BD9-81ED-4DB2-BD59-A6C34878D82A}">
                    <a16:rowId xmlns:a16="http://schemas.microsoft.com/office/drawing/2014/main" val="4020613089"/>
                  </a:ext>
                </a:extLst>
              </a:tr>
              <a:tr h="586961">
                <a:tc>
                  <a:txBody>
                    <a:bodyPr/>
                    <a:lstStyle/>
                    <a:p>
                      <a:r>
                        <a:rPr lang="en-IN" dirty="0">
                          <a:latin typeface="Times New Roman" panose="02020603050405020304" pitchFamily="18" charset="0"/>
                          <a:cs typeface="Times New Roman" panose="02020603050405020304" pitchFamily="18" charset="0"/>
                        </a:rPr>
                        <a:t>Editor</a:t>
                      </a:r>
                    </a:p>
                  </a:txBody>
                  <a:tcPr/>
                </a:tc>
                <a:tc>
                  <a:txBody>
                    <a:bodyPr/>
                    <a:lstStyle/>
                    <a:p>
                      <a:r>
                        <a:rPr lang="en-IN" dirty="0">
                          <a:latin typeface="Times New Roman" panose="02020603050405020304" pitchFamily="18" charset="0"/>
                          <a:cs typeface="Times New Roman" panose="02020603050405020304" pitchFamily="18" charset="0"/>
                        </a:rPr>
                        <a:t>VS Code</a:t>
                      </a:r>
                    </a:p>
                  </a:txBody>
                  <a:tcPr/>
                </a:tc>
                <a:extLst>
                  <a:ext uri="{0D108BD9-81ED-4DB2-BD59-A6C34878D82A}">
                    <a16:rowId xmlns:a16="http://schemas.microsoft.com/office/drawing/2014/main" val="2878849665"/>
                  </a:ext>
                </a:extLst>
              </a:tr>
              <a:tr h="586961">
                <a:tc>
                  <a:txBody>
                    <a:bodyPr/>
                    <a:lstStyle/>
                    <a:p>
                      <a:r>
                        <a:rPr lang="en-IN" dirty="0">
                          <a:latin typeface="Times New Roman" panose="02020603050405020304" pitchFamily="18" charset="0"/>
                          <a:cs typeface="Times New Roman" panose="02020603050405020304" pitchFamily="18" charset="0"/>
                        </a:rPr>
                        <a:t>Report Format</a:t>
                      </a:r>
                    </a:p>
                  </a:txBody>
                  <a:tcPr/>
                </a:tc>
                <a:tc>
                  <a:txBody>
                    <a:bodyPr/>
                    <a:lstStyle/>
                    <a:p>
                      <a:r>
                        <a:rPr lang="en-IN" dirty="0">
                          <a:latin typeface="Times New Roman" panose="02020603050405020304" pitchFamily="18" charset="0"/>
                          <a:cs typeface="Times New Roman" panose="02020603050405020304" pitchFamily="18" charset="0"/>
                        </a:rPr>
                        <a:t> HTML</a:t>
                      </a:r>
                    </a:p>
                  </a:txBody>
                  <a:tcPr/>
                </a:tc>
                <a:extLst>
                  <a:ext uri="{0D108BD9-81ED-4DB2-BD59-A6C34878D82A}">
                    <a16:rowId xmlns:a16="http://schemas.microsoft.com/office/drawing/2014/main" val="113756781"/>
                  </a:ext>
                </a:extLst>
              </a:tr>
            </a:tbl>
          </a:graphicData>
        </a:graphic>
      </p:graphicFrame>
    </p:spTree>
    <p:extLst>
      <p:ext uri="{BB962C8B-B14F-4D97-AF65-F5344CB8AC3E}">
        <p14:creationId xmlns:p14="http://schemas.microsoft.com/office/powerpoint/2010/main" val="1843479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25CECF-71DA-A39C-41CE-3FDC1D62C95F}"/>
              </a:ext>
            </a:extLst>
          </p:cNvPr>
          <p:cNvSpPr>
            <a:spLocks noGrp="1"/>
          </p:cNvSpPr>
          <p:nvPr>
            <p:ph type="title"/>
          </p:nvPr>
        </p:nvSpPr>
        <p:spPr/>
        <p:txBody>
          <a:bodyPr>
            <a:normAutofit/>
          </a:bodyPr>
          <a:lstStyle/>
          <a:p>
            <a:pPr algn="ctr"/>
            <a:r>
              <a:rPr lang="en-IN" b="1" dirty="0">
                <a:latin typeface="Times New Roman" panose="02020603050405020304" pitchFamily="18" charset="0"/>
                <a:cs typeface="Times New Roman" panose="02020603050405020304" pitchFamily="18" charset="0"/>
              </a:rPr>
              <a:t>INTRODUCTION TO PASSWORD CRACKING</a:t>
            </a:r>
          </a:p>
        </p:txBody>
      </p:sp>
      <p:sp>
        <p:nvSpPr>
          <p:cNvPr id="5" name="Content Placeholder 4">
            <a:extLst>
              <a:ext uri="{FF2B5EF4-FFF2-40B4-BE49-F238E27FC236}">
                <a16:creationId xmlns:a16="http://schemas.microsoft.com/office/drawing/2014/main" id="{DBD560E7-0BA4-2735-A1B4-427ACB2ACCE6}"/>
              </a:ext>
            </a:extLst>
          </p:cNvPr>
          <p:cNvSpPr>
            <a:spLocks noGrp="1"/>
          </p:cNvSpPr>
          <p:nvPr>
            <p:ph idx="1"/>
          </p:nvPr>
        </p:nvSpPr>
        <p:spPr>
          <a:xfrm>
            <a:off x="838200" y="1825625"/>
            <a:ext cx="10515600" cy="4799764"/>
          </a:xfrm>
        </p:spPr>
        <p:txBody>
          <a:bodyPr>
            <a:normAutofit fontScale="92500" lnSpcReduction="10000"/>
          </a:bodyPr>
          <a:lstStyle/>
          <a:p>
            <a:pPr marL="0" indent="0">
              <a:buNone/>
            </a:pPr>
            <a:r>
              <a:rPr lang="en-US" sz="2600" b="1" dirty="0"/>
              <a:t>    What is password cracking?</a:t>
            </a:r>
          </a:p>
          <a:p>
            <a:r>
              <a:rPr lang="en-US" sz="2600" dirty="0"/>
              <a:t> Password cracking is the process of trying to discover a user’s password by    testing possible values until the correct one is found. It’s a technical way to  recover or guess passwords — and like a hammer, it can be used for good  (recovering your own password, penetration testing with permission) or for harm (unauthorized access).</a:t>
            </a:r>
          </a:p>
          <a:p>
            <a:pPr marL="0" indent="0">
              <a:buNone/>
            </a:pPr>
            <a:r>
              <a:rPr lang="en-US" sz="2600" b="1" dirty="0"/>
              <a:t>    How it works — a quick analogy</a:t>
            </a:r>
          </a:p>
          <a:p>
            <a:r>
              <a:rPr lang="en-US" sz="2600" dirty="0"/>
              <a:t>Imagine a locked box with a combination lock. If you try every possible combination from 0000 to 9999, that’s </a:t>
            </a:r>
            <a:r>
              <a:rPr lang="en-US" sz="2600" b="1" dirty="0"/>
              <a:t>brute force</a:t>
            </a:r>
            <a:r>
              <a:rPr lang="en-US" sz="2600" dirty="0"/>
              <a:t>. If you first try combinations that people often choose — like 1234 or birth years — that’s like a </a:t>
            </a:r>
            <a:r>
              <a:rPr lang="en-US" sz="2600" b="1" dirty="0"/>
              <a:t>dictionary attack</a:t>
            </a:r>
            <a:r>
              <a:rPr lang="en-US" sz="2600" dirty="0"/>
              <a:t> (you try the likely combinations first).</a:t>
            </a:r>
          </a:p>
          <a:p>
            <a:r>
              <a:rPr lang="en-US" sz="2400" b="1" dirty="0"/>
              <a:t>Brute-force:</a:t>
            </a:r>
            <a:r>
              <a:rPr lang="en-US" sz="2400" dirty="0"/>
              <a:t> Systematically try every possible password (guaranteed to find it, but may be impractically slow).</a:t>
            </a:r>
            <a:endParaRPr lang="en-US" sz="2600" dirty="0"/>
          </a:p>
          <a:p>
            <a:pPr marL="0" indent="0">
              <a:buNone/>
            </a:pPr>
            <a:endParaRPr lang="en-US" dirty="0"/>
          </a:p>
        </p:txBody>
      </p:sp>
    </p:spTree>
    <p:extLst>
      <p:ext uri="{BB962C8B-B14F-4D97-AF65-F5344CB8AC3E}">
        <p14:creationId xmlns:p14="http://schemas.microsoft.com/office/powerpoint/2010/main" val="19988753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Why Passwords Get Cracked Easily</a:t>
            </a:r>
          </a:p>
        </p:txBody>
      </p:sp>
      <p:sp>
        <p:nvSpPr>
          <p:cNvPr id="3" name="Content Placeholder 2"/>
          <p:cNvSpPr>
            <a:spLocks noGrp="1"/>
          </p:cNvSpPr>
          <p:nvPr>
            <p:ph idx="1"/>
          </p:nvPr>
        </p:nvSpPr>
        <p:spPr/>
        <p:txBody>
          <a:bodyPr/>
          <a:lstStyle/>
          <a:p>
            <a:endParaRPr/>
          </a:p>
          <a:p>
            <a:r>
              <a:t>People use simple passwords like 123456 or password</a:t>
            </a:r>
          </a:p>
          <a:p>
            <a:r>
              <a:t>Many reuse the same password on multiple sites</a:t>
            </a:r>
          </a:p>
          <a:p>
            <a:r>
              <a:t>Hackers use leaked passwords from old breaches</a:t>
            </a:r>
          </a:p>
          <a:p>
            <a:r>
              <a:t>Weak passwords are easy to guess or brute-force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ABB99E34-1A5F-9002-B56D-3A3915AA2786}"/>
              </a:ext>
            </a:extLst>
          </p:cNvPr>
          <p:cNvSpPr txBox="1"/>
          <p:nvPr/>
        </p:nvSpPr>
        <p:spPr>
          <a:xfrm>
            <a:off x="618744" y="766732"/>
            <a:ext cx="10954512" cy="4093428"/>
          </a:xfrm>
          <a:prstGeom prst="rect">
            <a:avLst/>
          </a:prstGeom>
          <a:noFill/>
        </p:spPr>
        <p:txBody>
          <a:bodyPr wrap="square" rtlCol="0">
            <a:spAutoFit/>
          </a:bodyPr>
          <a:lstStyle/>
          <a:p>
            <a:pPr marL="457200" indent="-457200">
              <a:buAutoNum type="arabicPeriod"/>
            </a:pPr>
            <a:r>
              <a:rPr lang="en-US" sz="2400" b="1" dirty="0"/>
              <a:t>UI &amp; navigation</a:t>
            </a:r>
          </a:p>
          <a:p>
            <a:pPr marL="457200" indent="-457200">
              <a:buAutoNum type="arabicPeriod"/>
            </a:pPr>
            <a:endParaRPr lang="en-US" sz="2400" b="1" dirty="0"/>
          </a:p>
          <a:p>
            <a:pPr marL="342900" indent="-342900">
              <a:buFont typeface="Arial" panose="020B0604020202020204" pitchFamily="34" charset="0"/>
              <a:buChar char="•"/>
            </a:pPr>
            <a:r>
              <a:rPr lang="en-US" sz="2400" b="1" dirty="0"/>
              <a:t>Tabbed interface</a:t>
            </a:r>
            <a:r>
              <a:rPr lang="en-US" sz="2400" dirty="0"/>
              <a:t> — two tabs: </a:t>
            </a:r>
            <a:r>
              <a:rPr lang="en-US" sz="2400" b="1" dirty="0"/>
              <a:t>Create Account</a:t>
            </a:r>
            <a:r>
              <a:rPr lang="en-US" sz="2400" dirty="0"/>
              <a:t> and </a:t>
            </a:r>
            <a:r>
              <a:rPr lang="en-US" sz="2400" b="1" dirty="0"/>
              <a:t>Login &amp; Cracker</a:t>
            </a:r>
            <a:r>
              <a:rPr lang="en-US" sz="2400" dirty="0"/>
              <a:t> for a clear workflow.</a:t>
            </a:r>
          </a:p>
          <a:p>
            <a:endParaRPr lang="en-US" sz="2400" dirty="0"/>
          </a:p>
          <a:p>
            <a:pPr marL="342900" indent="-342900">
              <a:buFont typeface="Arial" panose="020B0604020202020204" pitchFamily="34" charset="0"/>
              <a:buChar char="•"/>
            </a:pPr>
            <a:r>
              <a:rPr lang="en-US" sz="2400" b="1" dirty="0"/>
              <a:t>Responsive card layout</a:t>
            </a:r>
            <a:r>
              <a:rPr lang="en-US" sz="2400" dirty="0"/>
              <a:t> — neat cards, form controls and a live monospace log area for readability.</a:t>
            </a:r>
          </a:p>
          <a:p>
            <a:endParaRPr lang="en-US" sz="2400" dirty="0"/>
          </a:p>
          <a:p>
            <a:pPr marL="342900" indent="-342900">
              <a:buFont typeface="Arial" panose="020B0604020202020204" pitchFamily="34" charset="0"/>
              <a:buChar char="•"/>
            </a:pPr>
            <a:r>
              <a:rPr lang="en-US" sz="2400" b="1" dirty="0"/>
              <a:t>Progress bar &amp; live stats</a:t>
            </a:r>
            <a:r>
              <a:rPr lang="en-US" sz="2400" dirty="0"/>
              <a:t> — visual progress, attempts counter, estimated rate and elapsed timer</a:t>
            </a:r>
            <a:r>
              <a:rPr lang="en-US" sz="2000" dirty="0"/>
              <a:t>.</a:t>
            </a:r>
          </a:p>
          <a:p>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080704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3792759-B424-286D-B764-26093210E12A}"/>
              </a:ext>
            </a:extLst>
          </p:cNvPr>
          <p:cNvSpPr txBox="1"/>
          <p:nvPr/>
        </p:nvSpPr>
        <p:spPr>
          <a:xfrm>
            <a:off x="657726" y="561474"/>
            <a:ext cx="10603832" cy="3785652"/>
          </a:xfrm>
          <a:prstGeom prst="rect">
            <a:avLst/>
          </a:prstGeom>
          <a:noFill/>
        </p:spPr>
        <p:txBody>
          <a:bodyPr wrap="square" rtlCol="0">
            <a:spAutoFit/>
          </a:bodyPr>
          <a:lstStyle/>
          <a:p>
            <a:r>
              <a:rPr lang="en-US" sz="2400" b="1" dirty="0"/>
              <a:t> 2.Account management (local-only)</a:t>
            </a:r>
          </a:p>
          <a:p>
            <a:endParaRPr lang="en-US" sz="2400" b="1" dirty="0"/>
          </a:p>
          <a:p>
            <a:pPr marL="342900" indent="-342900">
              <a:buFont typeface="Arial" panose="020B0604020202020204" pitchFamily="34" charset="0"/>
              <a:buChar char="•"/>
            </a:pPr>
            <a:r>
              <a:rPr lang="en-US" sz="2400" b="1" dirty="0"/>
              <a:t>Create account stored in </a:t>
            </a:r>
            <a:r>
              <a:rPr lang="en-US" sz="2400" b="1" dirty="0" err="1"/>
              <a:t>localStorage</a:t>
            </a:r>
            <a:r>
              <a:rPr lang="en-US" sz="2400" dirty="0"/>
              <a:t> — saves {user, pass} locally in the browser (no server).</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b="1" dirty="0"/>
              <a:t>Password rules enforced</a:t>
            </a:r>
            <a:r>
              <a:rPr lang="en-US" sz="2400" dirty="0"/>
              <a:t> — exactly </a:t>
            </a:r>
            <a:r>
              <a:rPr lang="en-US" sz="2400" b="1" dirty="0"/>
              <a:t>8 characters</a:t>
            </a:r>
            <a:r>
              <a:rPr lang="en-US" sz="2400" dirty="0"/>
              <a:t>, only </a:t>
            </a:r>
            <a:r>
              <a:rPr lang="en-US" sz="2400" b="1" dirty="0"/>
              <a:t>lowercase a–z</a:t>
            </a:r>
            <a:r>
              <a:rPr lang="en-US" sz="2400" dirty="0"/>
              <a:t> and </a:t>
            </a:r>
            <a:r>
              <a:rPr lang="en-US" sz="2400" b="1" dirty="0"/>
              <a:t>digits 0–9</a:t>
            </a:r>
            <a:r>
              <a:rPr lang="en-US" sz="2400" dirty="0"/>
              <a:t> (validated with a regex).</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b="1" dirty="0"/>
              <a:t>Clear / Save controls</a:t>
            </a:r>
            <a:r>
              <a:rPr lang="en-US" sz="2400" dirty="0"/>
              <a:t> — create account, clear form; feedback messages for success / errors.</a:t>
            </a:r>
          </a:p>
        </p:txBody>
      </p:sp>
    </p:spTree>
    <p:extLst>
      <p:ext uri="{BB962C8B-B14F-4D97-AF65-F5344CB8AC3E}">
        <p14:creationId xmlns:p14="http://schemas.microsoft.com/office/powerpoint/2010/main" val="40947472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94CFF19-FC9C-E555-64EE-0C1E33031F81}"/>
              </a:ext>
            </a:extLst>
          </p:cNvPr>
          <p:cNvSpPr txBox="1"/>
          <p:nvPr/>
        </p:nvSpPr>
        <p:spPr>
          <a:xfrm>
            <a:off x="818147" y="721895"/>
            <a:ext cx="10732169" cy="5909310"/>
          </a:xfrm>
          <a:prstGeom prst="rect">
            <a:avLst/>
          </a:prstGeom>
          <a:noFill/>
        </p:spPr>
        <p:txBody>
          <a:bodyPr wrap="square" rtlCol="0">
            <a:spAutoFit/>
          </a:bodyPr>
          <a:lstStyle/>
          <a:p>
            <a:r>
              <a:rPr lang="en-US" sz="2400" b="1" dirty="0"/>
              <a:t>3. Login simulation</a:t>
            </a:r>
          </a:p>
          <a:p>
            <a:endParaRPr lang="en-US" sz="2400" b="1" dirty="0"/>
          </a:p>
          <a:p>
            <a:pPr marL="342900" indent="-342900">
              <a:buFont typeface="Arial" panose="020B0604020202020204" pitchFamily="34" charset="0"/>
              <a:buChar char="•"/>
            </a:pPr>
            <a:r>
              <a:rPr lang="en-US" sz="2400" b="1" dirty="0"/>
              <a:t>Local login check</a:t>
            </a:r>
            <a:r>
              <a:rPr lang="en-US" sz="2400" dirty="0"/>
              <a:t> — compare entered username + password to locally saved account and show success/failure messages.</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b="1" dirty="0"/>
              <a:t>Logout button</a:t>
            </a:r>
            <a:r>
              <a:rPr lang="en-US" sz="2400" dirty="0"/>
              <a:t> — clear login inputs and show logged-out message.</a:t>
            </a:r>
          </a:p>
          <a:p>
            <a:pPr marL="342900" indent="-342900">
              <a:buFont typeface="Arial" panose="020B0604020202020204" pitchFamily="34" charset="0"/>
              <a:buChar char="•"/>
            </a:pPr>
            <a:endParaRPr lang="en-US" sz="2400" dirty="0"/>
          </a:p>
          <a:p>
            <a:r>
              <a:rPr lang="en-US" sz="2400" b="1" dirty="0"/>
              <a:t>4. Logging &amp; export</a:t>
            </a:r>
          </a:p>
          <a:p>
            <a:pPr marL="342900" indent="-342900">
              <a:buFont typeface="Arial" panose="020B0604020202020204" pitchFamily="34" charset="0"/>
              <a:buChar char="•"/>
            </a:pPr>
            <a:r>
              <a:rPr lang="en-US" sz="2400" b="1" dirty="0"/>
              <a:t>Attempt log</a:t>
            </a:r>
            <a:r>
              <a:rPr lang="en-US" sz="2400" dirty="0"/>
              <a:t> — a monospace live log that shows time-stamped messages (recent entries shown in UI).</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b="1" dirty="0"/>
              <a:t>Export CSV</a:t>
            </a:r>
            <a:r>
              <a:rPr lang="en-US" sz="2400" dirty="0"/>
              <a:t> — export the recorded log entries to a CSV file for saving or later analysis.</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endParaRPr lang="en-US" sz="2400" dirty="0"/>
          </a:p>
          <a:p>
            <a:endParaRPr lang="en-IN" dirty="0"/>
          </a:p>
        </p:txBody>
      </p:sp>
    </p:spTree>
    <p:extLst>
      <p:ext uri="{BB962C8B-B14F-4D97-AF65-F5344CB8AC3E}">
        <p14:creationId xmlns:p14="http://schemas.microsoft.com/office/powerpoint/2010/main" val="32330480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767A99C-492E-66DC-39E3-6A4B8669C056}"/>
              </a:ext>
            </a:extLst>
          </p:cNvPr>
          <p:cNvSpPr txBox="1"/>
          <p:nvPr/>
        </p:nvSpPr>
        <p:spPr>
          <a:xfrm>
            <a:off x="192505" y="128336"/>
            <a:ext cx="11806990" cy="6463308"/>
          </a:xfrm>
          <a:prstGeom prst="rect">
            <a:avLst/>
          </a:prstGeom>
          <a:noFill/>
        </p:spPr>
        <p:txBody>
          <a:bodyPr wrap="square" rtlCol="0">
            <a:spAutoFit/>
          </a:bodyPr>
          <a:lstStyle/>
          <a:p>
            <a:r>
              <a:rPr lang="en-US" sz="2200" b="1" dirty="0"/>
              <a:t>5.Cracker simulation (educational)</a:t>
            </a:r>
          </a:p>
          <a:p>
            <a:endParaRPr lang="en-US" sz="2200" b="1" dirty="0"/>
          </a:p>
          <a:p>
            <a:pPr marL="285750" indent="-285750">
              <a:buFont typeface="Arial" panose="020B0604020202020204" pitchFamily="34" charset="0"/>
              <a:buChar char="•"/>
            </a:pPr>
            <a:r>
              <a:rPr lang="en-US" sz="2200" b="1" dirty="0"/>
              <a:t>Two cracking modes</a:t>
            </a:r>
            <a:r>
              <a:rPr lang="en-US" sz="2200" dirty="0"/>
              <a:t>:</a:t>
            </a:r>
          </a:p>
          <a:p>
            <a:pPr lvl="1"/>
            <a:r>
              <a:rPr lang="en-US" sz="2200" b="1" dirty="0"/>
              <a:t>Random non-repeating (sampling)</a:t>
            </a:r>
            <a:r>
              <a:rPr lang="en-US" sz="2200" dirty="0"/>
              <a:t> — generates random 8-char guesses from the allowed alphabet.</a:t>
            </a:r>
          </a:p>
          <a:p>
            <a:pPr lvl="1"/>
            <a:r>
              <a:rPr lang="en-US" sz="2200" b="1" dirty="0"/>
              <a:t>Sequential (lexicographic)</a:t>
            </a:r>
            <a:r>
              <a:rPr lang="en-US" sz="2200" dirty="0"/>
              <a:t> — generates guesses in lexicographic order (only for small demo runs; limited to avoid huge iteration).</a:t>
            </a:r>
          </a:p>
          <a:p>
            <a:pPr lvl="1"/>
            <a:endParaRPr lang="en-US" sz="2200" dirty="0"/>
          </a:p>
          <a:p>
            <a:pPr marL="342900" indent="-342900">
              <a:buFont typeface="Arial" panose="020B0604020202020204" pitchFamily="34" charset="0"/>
              <a:buChar char="•"/>
            </a:pPr>
            <a:r>
              <a:rPr lang="en-US" sz="2200" b="1" dirty="0"/>
              <a:t>Speed control</a:t>
            </a:r>
            <a:r>
              <a:rPr lang="en-US" sz="2200" dirty="0"/>
              <a:t> — slider to set attempts per second (10 → 200,000), with live numeric display.</a:t>
            </a:r>
          </a:p>
          <a:p>
            <a:endParaRPr lang="en-US" sz="2200" dirty="0"/>
          </a:p>
          <a:p>
            <a:pPr marL="342900" indent="-342900">
              <a:buFont typeface="Arial" panose="020B0604020202020204" pitchFamily="34" charset="0"/>
              <a:buChar char="•"/>
            </a:pPr>
            <a:r>
              <a:rPr lang="en-US" sz="2200" b="1" dirty="0"/>
              <a:t>Start / Stop / Reset controls</a:t>
            </a:r>
            <a:r>
              <a:rPr lang="en-US" sz="2200" dirty="0"/>
              <a:t> — start the simulation, stop mid-run, and reset counters &amp; logs (reset requires stopping first).</a:t>
            </a:r>
          </a:p>
          <a:p>
            <a:endParaRPr lang="en-US" sz="2200" dirty="0"/>
          </a:p>
          <a:p>
            <a:pPr marL="342900" indent="-342900">
              <a:buFont typeface="Arial" panose="020B0604020202020204" pitchFamily="34" charset="0"/>
              <a:buChar char="•"/>
            </a:pPr>
            <a:r>
              <a:rPr lang="en-US" sz="2200" b="1" dirty="0"/>
              <a:t>Batching loop</a:t>
            </a:r>
            <a:r>
              <a:rPr lang="en-US" sz="2200" dirty="0"/>
              <a:t> — attempts are run in small batches to keep the UI responsive while approximating the requested attempts/sec.</a:t>
            </a:r>
          </a:p>
          <a:p>
            <a:endParaRPr lang="en-US" sz="2200" dirty="0"/>
          </a:p>
          <a:p>
            <a:pPr marL="342900" indent="-342900">
              <a:buFont typeface="Arial" panose="020B0604020202020204" pitchFamily="34" charset="0"/>
              <a:buChar char="•"/>
            </a:pPr>
            <a:r>
              <a:rPr lang="en-US" sz="2200" b="1" dirty="0"/>
              <a:t>Demo progress scaling</a:t>
            </a:r>
            <a:r>
              <a:rPr lang="en-US" sz="2200" dirty="0"/>
              <a:t> — because the full space (36⁸) is enormous, the progress bar is scaled to a demo cap (1,000,000) so the UI shows progress visibly.</a:t>
            </a:r>
          </a:p>
          <a:p>
            <a:endParaRPr lang="en-IN" dirty="0"/>
          </a:p>
        </p:txBody>
      </p:sp>
    </p:spTree>
    <p:extLst>
      <p:ext uri="{BB962C8B-B14F-4D97-AF65-F5344CB8AC3E}">
        <p14:creationId xmlns:p14="http://schemas.microsoft.com/office/powerpoint/2010/main" val="36021101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66D717A-2E7F-5625-52F5-40B857FF3F67}"/>
              </a:ext>
            </a:extLst>
          </p:cNvPr>
          <p:cNvSpPr txBox="1"/>
          <p:nvPr/>
        </p:nvSpPr>
        <p:spPr>
          <a:xfrm>
            <a:off x="497305" y="673768"/>
            <a:ext cx="11341769" cy="4062651"/>
          </a:xfrm>
          <a:prstGeom prst="rect">
            <a:avLst/>
          </a:prstGeom>
          <a:noFill/>
        </p:spPr>
        <p:txBody>
          <a:bodyPr wrap="square" rtlCol="0">
            <a:spAutoFit/>
          </a:bodyPr>
          <a:lstStyle/>
          <a:p>
            <a:r>
              <a:rPr lang="en-US" sz="2400" b="1" dirty="0"/>
              <a:t>6. Statistics &amp; math display</a:t>
            </a:r>
          </a:p>
          <a:p>
            <a:endParaRPr lang="en-US" sz="2400" b="1" dirty="0"/>
          </a:p>
          <a:p>
            <a:pPr marL="342900" indent="-342900">
              <a:buFont typeface="Arial" panose="020B0604020202020204" pitchFamily="34" charset="0"/>
              <a:buChar char="•"/>
            </a:pPr>
            <a:r>
              <a:rPr lang="en-US" sz="2400" b="1" dirty="0"/>
              <a:t>Combinatorics explained</a:t>
            </a:r>
            <a:r>
              <a:rPr lang="en-US" sz="2400" dirty="0"/>
              <a:t> — shows alphabet size (36), formula 36^8, and the exact big integer </a:t>
            </a:r>
            <a:r>
              <a:rPr lang="en-US" sz="2400" b="1" dirty="0"/>
              <a:t>2,821,109,907,456</a:t>
            </a:r>
            <a:r>
              <a:rPr lang="en-US" sz="2400" dirty="0"/>
              <a:t> combinations.</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b="1" dirty="0"/>
              <a:t>Example time estimates</a:t>
            </a:r>
            <a:r>
              <a:rPr lang="en-US" sz="2400" dirty="0"/>
              <a:t> — illustrative estimates for different attempt rates (1k/sec, 10k/sec, 1M/sec) so viewers get a feel for scale.</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b="1" dirty="0"/>
              <a:t>Live counters</a:t>
            </a:r>
            <a:r>
              <a:rPr lang="en-US" sz="2400" dirty="0"/>
              <a:t> — Attempts count, rate estimate (attempt/sec), elapsed time, and total space shown in the UI.</a:t>
            </a:r>
          </a:p>
          <a:p>
            <a:endParaRPr lang="en-IN" dirty="0"/>
          </a:p>
        </p:txBody>
      </p:sp>
    </p:spTree>
    <p:extLst>
      <p:ext uri="{BB962C8B-B14F-4D97-AF65-F5344CB8AC3E}">
        <p14:creationId xmlns:p14="http://schemas.microsoft.com/office/powerpoint/2010/main" val="2177364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6976594-A615-DD42-97CB-A6A1403E7E16}"/>
              </a:ext>
            </a:extLst>
          </p:cNvPr>
          <p:cNvSpPr txBox="1"/>
          <p:nvPr/>
        </p:nvSpPr>
        <p:spPr>
          <a:xfrm>
            <a:off x="657726" y="914400"/>
            <a:ext cx="10876548" cy="2954655"/>
          </a:xfrm>
          <a:prstGeom prst="rect">
            <a:avLst/>
          </a:prstGeom>
          <a:noFill/>
        </p:spPr>
        <p:txBody>
          <a:bodyPr wrap="square" rtlCol="0">
            <a:spAutoFit/>
          </a:bodyPr>
          <a:lstStyle/>
          <a:p>
            <a:r>
              <a:rPr lang="en-US" sz="2400" b="1" dirty="0"/>
              <a:t>7. Safety &amp; ethics</a:t>
            </a:r>
          </a:p>
          <a:p>
            <a:endParaRPr lang="en-US" sz="2400" b="1" dirty="0"/>
          </a:p>
          <a:p>
            <a:pPr marL="342900" indent="-342900">
              <a:buFont typeface="Arial" panose="020B0604020202020204" pitchFamily="34" charset="0"/>
              <a:buChar char="•"/>
            </a:pPr>
            <a:r>
              <a:rPr lang="en-US" sz="2400" b="1" dirty="0"/>
              <a:t>Local-only demonstration</a:t>
            </a:r>
            <a:r>
              <a:rPr lang="en-US" sz="2400" dirty="0"/>
              <a:t> — no network requests; stored data is only in browser </a:t>
            </a:r>
            <a:r>
              <a:rPr lang="en-US" sz="2400" dirty="0" err="1"/>
              <a:t>localStorage</a:t>
            </a:r>
            <a:r>
              <a:rPr lang="en-US" sz="2400" dirty="0"/>
              <a:t>.</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b="1" dirty="0"/>
              <a:t>Clear ethics notice</a:t>
            </a:r>
            <a:r>
              <a:rPr lang="en-US" sz="2400" dirty="0"/>
              <a:t> — the page repeatedly warns this is educational only and must not be used against real systems without authorization</a:t>
            </a:r>
            <a:r>
              <a:rPr lang="en-US" dirty="0"/>
              <a:t>.</a:t>
            </a:r>
          </a:p>
          <a:p>
            <a:endParaRPr lang="en-IN" dirty="0"/>
          </a:p>
        </p:txBody>
      </p:sp>
    </p:spTree>
    <p:extLst>
      <p:ext uri="{BB962C8B-B14F-4D97-AF65-F5344CB8AC3E}">
        <p14:creationId xmlns:p14="http://schemas.microsoft.com/office/powerpoint/2010/main" val="40222643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617657E-6424-BDA5-7AFF-C3BACE4888A1}"/>
              </a:ext>
            </a:extLst>
          </p:cNvPr>
          <p:cNvSpPr txBox="1"/>
          <p:nvPr/>
        </p:nvSpPr>
        <p:spPr>
          <a:xfrm>
            <a:off x="256674" y="144379"/>
            <a:ext cx="11694694" cy="6545179"/>
          </a:xfrm>
          <a:prstGeom prst="rect">
            <a:avLst/>
          </a:prstGeom>
          <a:noFill/>
        </p:spPr>
        <p:txBody>
          <a:bodyPr wrap="square" rtlCol="0">
            <a:spAutoFit/>
          </a:bodyPr>
          <a:lstStyle/>
          <a:p>
            <a:r>
              <a:rPr lang="en-US" sz="2400" b="1" dirty="0"/>
              <a:t>8. Implementation details (technical)</a:t>
            </a:r>
          </a:p>
          <a:p>
            <a:endParaRPr lang="en-US" sz="2400" b="1" dirty="0"/>
          </a:p>
          <a:p>
            <a:pPr marL="342900" indent="-342900">
              <a:buFont typeface="Arial" panose="020B0604020202020204" pitchFamily="34" charset="0"/>
              <a:buChar char="•"/>
            </a:pPr>
            <a:r>
              <a:rPr lang="en-US" sz="2400" b="1" dirty="0"/>
              <a:t>Client-side only (HTML+CSS+JS)</a:t>
            </a:r>
            <a:r>
              <a:rPr lang="en-US" sz="2400" dirty="0"/>
              <a:t> — standalone page you can open in any browser; no backend.</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b="1" dirty="0"/>
              <a:t>Alphabet &amp; combinatorics implemented</a:t>
            </a:r>
            <a:r>
              <a:rPr lang="en-US" sz="2400" dirty="0"/>
              <a:t> — builds alphabet array programmatically (a–z + 0–9) and computes TOTAL_SPACE as a </a:t>
            </a:r>
            <a:r>
              <a:rPr lang="en-US" sz="2400" dirty="0" err="1"/>
              <a:t>BigInt</a:t>
            </a:r>
            <a:r>
              <a:rPr lang="en-US" sz="2400" dirty="0"/>
              <a:t>.</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b="1" dirty="0"/>
              <a:t>Regex validation</a:t>
            </a:r>
            <a:r>
              <a:rPr lang="en-US" sz="2400" dirty="0"/>
              <a:t> — </a:t>
            </a:r>
            <a:r>
              <a:rPr lang="en-US" sz="2400" dirty="0" err="1"/>
              <a:t>validatePassword</a:t>
            </a:r>
            <a:r>
              <a:rPr lang="en-US" sz="2400" dirty="0"/>
              <a:t>() uses /^[a-z0-9]{8}$/ to enforce the rule.</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b="1" dirty="0"/>
              <a:t>Performance safety</a:t>
            </a:r>
            <a:r>
              <a:rPr lang="en-US" sz="2400" dirty="0"/>
              <a:t> — sequential mode has a demo limit (stops if index exceeds practical bounds) and random mode doesn’t attempt to track all tried combinations (would be memory-prohibitive).</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b="1" dirty="0"/>
              <a:t>Formatted big integers &amp; elapsed formatting</a:t>
            </a:r>
            <a:r>
              <a:rPr lang="en-US" sz="2400" dirty="0"/>
              <a:t> — helper functions format large numbers with commas and format elapsed time HH:MM:SS.</a:t>
            </a:r>
          </a:p>
          <a:p>
            <a:endParaRPr lang="en-IN" sz="2400" dirty="0"/>
          </a:p>
        </p:txBody>
      </p:sp>
    </p:spTree>
    <p:extLst>
      <p:ext uri="{BB962C8B-B14F-4D97-AF65-F5344CB8AC3E}">
        <p14:creationId xmlns:p14="http://schemas.microsoft.com/office/powerpoint/2010/main" val="7776588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B35E3B3-1DAE-20D3-64C0-9720FDD33E91}"/>
              </a:ext>
            </a:extLst>
          </p:cNvPr>
          <p:cNvSpPr txBox="1"/>
          <p:nvPr/>
        </p:nvSpPr>
        <p:spPr>
          <a:xfrm>
            <a:off x="529389" y="657726"/>
            <a:ext cx="11149264" cy="5632311"/>
          </a:xfrm>
          <a:prstGeom prst="rect">
            <a:avLst/>
          </a:prstGeom>
          <a:noFill/>
        </p:spPr>
        <p:txBody>
          <a:bodyPr wrap="square" rtlCol="0">
            <a:spAutoFit/>
          </a:bodyPr>
          <a:lstStyle/>
          <a:p>
            <a:r>
              <a:rPr lang="en-US" sz="2400" b="1" dirty="0"/>
              <a:t>9. Limitations (important to mention)</a:t>
            </a:r>
          </a:p>
          <a:p>
            <a:endParaRPr lang="en-US" sz="2400" b="1" dirty="0"/>
          </a:p>
          <a:p>
            <a:pPr marL="342900" indent="-342900">
              <a:buFont typeface="Arial" panose="020B0604020202020204" pitchFamily="34" charset="0"/>
              <a:buChar char="•"/>
            </a:pPr>
            <a:r>
              <a:rPr lang="en-US" sz="2400" b="1" dirty="0"/>
              <a:t>Not exhaustive</a:t>
            </a:r>
            <a:r>
              <a:rPr lang="en-US" sz="2400" dirty="0"/>
              <a:t> — the demo never actually iterates 2.8 trillion combinations; it samples or stops early for practicality.</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b="1" dirty="0"/>
              <a:t>Not a real cracker</a:t>
            </a:r>
            <a:r>
              <a:rPr lang="en-US" sz="2400" dirty="0"/>
              <a:t> — it does not compute or compare hashes, nor does it attack networked services. It only compares plaintext guesses to the locally stored plaintext password.</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b="1" dirty="0"/>
              <a:t>Random mode may repeat</a:t>
            </a:r>
            <a:r>
              <a:rPr lang="en-US" sz="2400" dirty="0"/>
              <a:t> — because full-space de-duplication is infeasible, random sampling can repeat guesses (but probability is tiny for short runs).</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b="1" dirty="0"/>
              <a:t>Security of </a:t>
            </a:r>
            <a:r>
              <a:rPr lang="en-US" sz="2400" b="1" dirty="0" err="1"/>
              <a:t>localStorage</a:t>
            </a:r>
            <a:r>
              <a:rPr lang="en-US" sz="2400" dirty="0"/>
              <a:t> — saved demo account is visible to anyone with access to the browser profile; it’s not secure storage</a:t>
            </a:r>
          </a:p>
          <a:p>
            <a:endParaRPr lang="en-IN" sz="2400" dirty="0"/>
          </a:p>
        </p:txBody>
      </p:sp>
    </p:spTree>
    <p:extLst>
      <p:ext uri="{BB962C8B-B14F-4D97-AF65-F5344CB8AC3E}">
        <p14:creationId xmlns:p14="http://schemas.microsoft.com/office/powerpoint/2010/main" val="4603028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85092" y="124802"/>
            <a:ext cx="10515600" cy="1325563"/>
          </a:xfrm>
        </p:spPr>
        <p:txBody>
          <a:bodyPr/>
          <a:lstStyle/>
          <a:p>
            <a:r>
              <a:rPr dirty="0"/>
              <a:t>Key Features of Password-Cracking Tools</a:t>
            </a:r>
          </a:p>
        </p:txBody>
      </p:sp>
      <p:sp>
        <p:nvSpPr>
          <p:cNvPr id="3" name="Content Placeholder 2"/>
          <p:cNvSpPr>
            <a:spLocks noGrp="1"/>
          </p:cNvSpPr>
          <p:nvPr>
            <p:ph idx="1"/>
          </p:nvPr>
        </p:nvSpPr>
        <p:spPr>
          <a:xfrm>
            <a:off x="838200" y="1597025"/>
            <a:ext cx="10515600" cy="4351338"/>
          </a:xfrm>
        </p:spPr>
        <p:txBody>
          <a:bodyPr/>
          <a:lstStyle/>
          <a:p>
            <a:pPr marL="0" indent="0">
              <a:buNone/>
            </a:pPr>
            <a:r>
              <a:rPr dirty="0"/>
              <a:t>• Attack types: Brute-force, Dictionary, Mask, Rule-based</a:t>
            </a:r>
          </a:p>
          <a:p>
            <a:pPr marL="0" indent="0">
              <a:buNone/>
            </a:pPr>
            <a:r>
              <a:rPr dirty="0"/>
              <a:t>• GPU acceleration for large-scale parallel attempts</a:t>
            </a:r>
          </a:p>
          <a:p>
            <a:pPr marL="0" indent="0">
              <a:buNone/>
            </a:pPr>
            <a:r>
              <a:rPr dirty="0"/>
              <a:t>• Multi-threading — use multiple CPU cores</a:t>
            </a:r>
          </a:p>
          <a:p>
            <a:pPr marL="0" indent="0">
              <a:buNone/>
            </a:pPr>
            <a:r>
              <a:rPr dirty="0"/>
              <a:t>• Hash &amp; salt handling for realistic offline cracking</a:t>
            </a:r>
          </a:p>
          <a:p>
            <a:pPr marL="0" indent="0">
              <a:buNone/>
            </a:pPr>
            <a:r>
              <a:rPr dirty="0"/>
              <a:t>• Session resume &amp; progress tracking</a:t>
            </a:r>
          </a:p>
          <a:p>
            <a:pPr marL="0" indent="0">
              <a:buNone/>
            </a:pPr>
            <a:r>
              <a:rPr dirty="0"/>
              <a:t>• Ethical &amp; educational use (authorized tests only)</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r>
              <a:rPr dirty="0"/>
              <a:t>Deep Dive — Attack Types</a:t>
            </a:r>
          </a:p>
        </p:txBody>
      </p:sp>
      <p:sp>
        <p:nvSpPr>
          <p:cNvPr id="3" name="Content Placeholder 2"/>
          <p:cNvSpPr>
            <a:spLocks noGrp="1"/>
          </p:cNvSpPr>
          <p:nvPr>
            <p:ph idx="1"/>
          </p:nvPr>
        </p:nvSpPr>
        <p:spPr/>
        <p:txBody>
          <a:bodyPr/>
          <a:lstStyle/>
          <a:p>
            <a:r>
              <a:t>Brute-force: try all combinations — guaranteed but slow</a:t>
            </a:r>
          </a:p>
          <a:p>
            <a:r>
              <a:t>Dictionary: use common words/password lists (fast for human-chosen passwords)</a:t>
            </a:r>
          </a:p>
          <a:p>
            <a:r>
              <a:t>Mask attacks: target patterns (e.g., ?u?l?l?d for 1 upper, 2 lower, 1 digit)</a:t>
            </a:r>
          </a:p>
          <a:p>
            <a:r>
              <a:t>Rule-based: transform dictionary entries (leet substitutions, append years)</a:t>
            </a:r>
          </a:p>
          <a:p>
            <a:r>
              <a:t>Hybrid: combine dictionary + brute-force for variants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FC7264A-3BC5-AAC2-77C2-0A7D3FC56D0F}"/>
              </a:ext>
            </a:extLst>
          </p:cNvPr>
          <p:cNvSpPr txBox="1"/>
          <p:nvPr/>
        </p:nvSpPr>
        <p:spPr>
          <a:xfrm>
            <a:off x="733926" y="613612"/>
            <a:ext cx="11020927" cy="5262979"/>
          </a:xfrm>
          <a:prstGeom prst="rect">
            <a:avLst/>
          </a:prstGeom>
          <a:noFill/>
        </p:spPr>
        <p:txBody>
          <a:bodyPr wrap="square" rtlCol="0">
            <a:spAutoFit/>
          </a:bodyPr>
          <a:lstStyle/>
          <a:p>
            <a:pPr algn="ctr" eaLnBrk="0" fontAlgn="base" hangingPunct="0">
              <a:spcBef>
                <a:spcPct val="0"/>
              </a:spcBef>
              <a:spcAft>
                <a:spcPct val="0"/>
              </a:spcAft>
            </a:pPr>
            <a:r>
              <a:rPr lang="en-IN" sz="2400" b="1" dirty="0"/>
              <a:t> Guess generators</a:t>
            </a:r>
          </a:p>
          <a:p>
            <a:pPr eaLnBrk="0" fontAlgn="base" hangingPunct="0">
              <a:spcBef>
                <a:spcPct val="0"/>
              </a:spcBef>
              <a:spcAft>
                <a:spcPct val="0"/>
              </a:spcAft>
              <a:buFontTx/>
              <a:buChar char="•"/>
            </a:pPr>
            <a:endParaRPr lang="en-IN" sz="2400" b="1" dirty="0"/>
          </a:p>
          <a:p>
            <a:pPr lvl="0" eaLnBrk="0" fontAlgn="base" hangingPunct="0">
              <a:spcBef>
                <a:spcPct val="0"/>
              </a:spcBef>
              <a:spcAft>
                <a:spcPct val="0"/>
              </a:spcAft>
              <a:buFontTx/>
              <a:buChar char="•"/>
            </a:pPr>
            <a:r>
              <a:rPr lang="en-US" altLang="en-US" sz="2400" b="1" dirty="0">
                <a:latin typeface="Arial" panose="020B0604020202020204" pitchFamily="34" charset="0"/>
              </a:rPr>
              <a:t>Brute-force generator</a:t>
            </a:r>
            <a:r>
              <a:rPr lang="en-US" altLang="en-US" sz="2400" dirty="0">
                <a:latin typeface="Arial" panose="020B0604020202020204" pitchFamily="34" charset="0"/>
              </a:rPr>
              <a:t> — produces every possible combination from the charset (usually impractical for large spaces).</a:t>
            </a:r>
          </a:p>
          <a:p>
            <a:pPr lvl="0" eaLnBrk="0" fontAlgn="base" hangingPunct="0">
              <a:spcBef>
                <a:spcPct val="0"/>
              </a:spcBef>
              <a:spcAft>
                <a:spcPct val="0"/>
              </a:spcAft>
              <a:buFontTx/>
              <a:buChar char="•"/>
            </a:pPr>
            <a:endParaRPr lang="en-US" altLang="en-US" sz="2400" dirty="0">
              <a:latin typeface="Arial" panose="020B0604020202020204" pitchFamily="34" charset="0"/>
            </a:endParaRPr>
          </a:p>
          <a:p>
            <a:pPr lvl="0" eaLnBrk="0" fontAlgn="base" hangingPunct="0">
              <a:spcBef>
                <a:spcPct val="0"/>
              </a:spcBef>
              <a:spcAft>
                <a:spcPct val="0"/>
              </a:spcAft>
              <a:buFontTx/>
              <a:buChar char="•"/>
            </a:pPr>
            <a:r>
              <a:rPr lang="en-US" altLang="en-US" sz="2400" b="1" dirty="0">
                <a:latin typeface="Arial" panose="020B0604020202020204" pitchFamily="34" charset="0"/>
              </a:rPr>
              <a:t>Dictionary generator</a:t>
            </a:r>
            <a:r>
              <a:rPr lang="en-US" altLang="en-US" sz="2400" dirty="0">
                <a:latin typeface="Arial" panose="020B0604020202020204" pitchFamily="34" charset="0"/>
              </a:rPr>
              <a:t> — reads a wordlist of likely passwords.</a:t>
            </a:r>
          </a:p>
          <a:p>
            <a:pPr lvl="0" eaLnBrk="0" fontAlgn="base" hangingPunct="0">
              <a:spcBef>
                <a:spcPct val="0"/>
              </a:spcBef>
              <a:spcAft>
                <a:spcPct val="0"/>
              </a:spcAft>
              <a:buFontTx/>
              <a:buChar char="•"/>
            </a:pPr>
            <a:endParaRPr lang="en-US" altLang="en-US" sz="2400" dirty="0">
              <a:latin typeface="Arial" panose="020B0604020202020204" pitchFamily="34" charset="0"/>
            </a:endParaRPr>
          </a:p>
          <a:p>
            <a:pPr lvl="0" eaLnBrk="0" fontAlgn="base" hangingPunct="0">
              <a:spcBef>
                <a:spcPct val="0"/>
              </a:spcBef>
              <a:spcAft>
                <a:spcPct val="0"/>
              </a:spcAft>
              <a:buFontTx/>
              <a:buChar char="•"/>
            </a:pPr>
            <a:r>
              <a:rPr lang="en-US" altLang="en-US" sz="2400" b="1" dirty="0">
                <a:latin typeface="Arial" panose="020B0604020202020204" pitchFamily="34" charset="0"/>
              </a:rPr>
              <a:t>Hybrid generator</a:t>
            </a:r>
            <a:r>
              <a:rPr lang="en-US" altLang="en-US" sz="2400" dirty="0">
                <a:latin typeface="Arial" panose="020B0604020202020204" pitchFamily="34" charset="0"/>
              </a:rPr>
              <a:t> — combines dictionary words + rule transforms.</a:t>
            </a:r>
          </a:p>
          <a:p>
            <a:pPr lvl="0" eaLnBrk="0" fontAlgn="base" hangingPunct="0">
              <a:spcBef>
                <a:spcPct val="0"/>
              </a:spcBef>
              <a:spcAft>
                <a:spcPct val="0"/>
              </a:spcAft>
              <a:buFontTx/>
              <a:buChar char="•"/>
            </a:pPr>
            <a:endParaRPr lang="en-US" altLang="en-US" sz="2400" dirty="0">
              <a:latin typeface="Arial" panose="020B0604020202020204" pitchFamily="34" charset="0"/>
            </a:endParaRPr>
          </a:p>
          <a:p>
            <a:pPr lvl="0" eaLnBrk="0" fontAlgn="base" hangingPunct="0">
              <a:spcBef>
                <a:spcPct val="0"/>
              </a:spcBef>
              <a:spcAft>
                <a:spcPct val="0"/>
              </a:spcAft>
              <a:buFontTx/>
              <a:buChar char="•"/>
            </a:pPr>
            <a:r>
              <a:rPr lang="en-US" altLang="en-US" sz="2400" b="1" dirty="0">
                <a:latin typeface="Arial" panose="020B0604020202020204" pitchFamily="34" charset="0"/>
              </a:rPr>
              <a:t>Random sampler</a:t>
            </a:r>
            <a:r>
              <a:rPr lang="en-US" altLang="en-US" sz="2400" dirty="0">
                <a:latin typeface="Arial" panose="020B0604020202020204" pitchFamily="34" charset="0"/>
              </a:rPr>
              <a:t> — picks random guesses (useful in demos or probabilistic attacks).</a:t>
            </a:r>
          </a:p>
          <a:p>
            <a:pPr lvl="0" eaLnBrk="0" fontAlgn="base" hangingPunct="0">
              <a:spcBef>
                <a:spcPct val="0"/>
              </a:spcBef>
              <a:spcAft>
                <a:spcPct val="0"/>
              </a:spcAft>
              <a:buFontTx/>
              <a:buChar char="•"/>
            </a:pPr>
            <a:endParaRPr lang="en-US" altLang="en-US" sz="2400" dirty="0">
              <a:latin typeface="Arial" panose="020B0604020202020204" pitchFamily="34" charset="0"/>
            </a:endParaRPr>
          </a:p>
          <a:p>
            <a:pPr lvl="0" eaLnBrk="0" fontAlgn="base" hangingPunct="0">
              <a:spcBef>
                <a:spcPct val="0"/>
              </a:spcBef>
              <a:spcAft>
                <a:spcPct val="0"/>
              </a:spcAft>
              <a:buFontTx/>
              <a:buChar char="•"/>
            </a:pPr>
            <a:r>
              <a:rPr lang="en-US" altLang="en-US" sz="2400" b="1" dirty="0">
                <a:latin typeface="Arial" panose="020B0604020202020204" pitchFamily="34" charset="0"/>
              </a:rPr>
              <a:t>Sequential (lexicographic) generator</a:t>
            </a:r>
            <a:r>
              <a:rPr lang="en-US" altLang="en-US" sz="2400" dirty="0">
                <a:latin typeface="Arial" panose="020B0604020202020204" pitchFamily="34" charset="0"/>
              </a:rPr>
              <a:t> — steps through candidates in a deterministic order.</a:t>
            </a:r>
          </a:p>
        </p:txBody>
      </p:sp>
    </p:spTree>
    <p:extLst>
      <p:ext uri="{BB962C8B-B14F-4D97-AF65-F5344CB8AC3E}">
        <p14:creationId xmlns:p14="http://schemas.microsoft.com/office/powerpoint/2010/main" val="14485209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A1EBF99-BAD8-7CF1-C105-7A23584792E0}"/>
              </a:ext>
            </a:extLst>
          </p:cNvPr>
          <p:cNvSpPr txBox="1"/>
          <p:nvPr/>
        </p:nvSpPr>
        <p:spPr>
          <a:xfrm>
            <a:off x="401001" y="750276"/>
            <a:ext cx="11389997" cy="4154984"/>
          </a:xfrm>
          <a:prstGeom prst="rect">
            <a:avLst/>
          </a:prstGeom>
          <a:noFill/>
        </p:spPr>
        <p:txBody>
          <a:bodyPr wrap="square" rtlCol="0">
            <a:spAutoFit/>
          </a:bodyPr>
          <a:lstStyle/>
          <a:p>
            <a:pPr algn="ctr"/>
            <a:r>
              <a:rPr lang="en-IN" sz="2400" b="1" dirty="0"/>
              <a:t>Hashing / Comparison</a:t>
            </a:r>
          </a:p>
          <a:p>
            <a:endParaRPr lang="en-IN" sz="2400" b="1" dirty="0"/>
          </a:p>
          <a:p>
            <a:pPr marL="342900" indent="-342900">
              <a:buFont typeface="Arial" panose="020B0604020202020204" pitchFamily="34" charset="0"/>
              <a:buChar char="•"/>
            </a:pPr>
            <a:r>
              <a:rPr lang="en-US" sz="2400" dirty="0"/>
              <a:t>Hashes each guess (if needed) and checks whether it matches the stored value.</a:t>
            </a:r>
          </a:p>
          <a:p>
            <a:endParaRPr lang="en-IN" sz="2400" b="1" dirty="0"/>
          </a:p>
          <a:p>
            <a:pPr marL="342900" indent="-342900">
              <a:buFont typeface="Arial" panose="020B0604020202020204" pitchFamily="34" charset="0"/>
              <a:buChar char="•"/>
            </a:pPr>
            <a:r>
              <a:rPr lang="en-IN" sz="2400" b="1" dirty="0"/>
              <a:t>Hash function implementation</a:t>
            </a:r>
            <a:r>
              <a:rPr lang="en-IN" sz="2400" dirty="0"/>
              <a:t> — computes hashes (MD5, SHA-1, SHA-256, or KDFs </a:t>
            </a:r>
          </a:p>
          <a:p>
            <a:r>
              <a:rPr lang="en-IN" sz="2400" dirty="0"/>
              <a:t>like PBKDF2/</a:t>
            </a:r>
            <a:r>
              <a:rPr lang="en-IN" sz="2400" dirty="0" err="1"/>
              <a:t>bcrypt</a:t>
            </a:r>
            <a:r>
              <a:rPr lang="en-IN" sz="2400" dirty="0"/>
              <a:t>/argon2) to compare guesses to stored hashes.</a:t>
            </a:r>
          </a:p>
          <a:p>
            <a:endParaRPr lang="en-IN" sz="2400" dirty="0"/>
          </a:p>
          <a:p>
            <a:pPr marL="342900" indent="-342900">
              <a:buFont typeface="Arial" panose="020B0604020202020204" pitchFamily="34" charset="0"/>
              <a:buChar char="•"/>
            </a:pPr>
            <a:r>
              <a:rPr lang="en-IN" sz="2400" b="1" dirty="0"/>
              <a:t>Salt handling</a:t>
            </a:r>
            <a:r>
              <a:rPr lang="en-IN" sz="2400" dirty="0"/>
              <a:t> — supports prefix/suffix or stored salts when comparing salted hashes.</a:t>
            </a:r>
          </a:p>
          <a:p>
            <a:endParaRPr lang="en-IN" sz="2400" dirty="0"/>
          </a:p>
          <a:p>
            <a:pPr marL="342900" indent="-342900">
              <a:buFont typeface="Arial" panose="020B0604020202020204" pitchFamily="34" charset="0"/>
              <a:buChar char="•"/>
            </a:pPr>
            <a:r>
              <a:rPr lang="en-IN" sz="2400" b="1" dirty="0"/>
              <a:t>Plaintext compare</a:t>
            </a:r>
            <a:r>
              <a:rPr lang="en-IN" sz="2400" dirty="0"/>
              <a:t> — simple string compare used in basic demos.</a:t>
            </a:r>
          </a:p>
          <a:p>
            <a:endParaRPr lang="en-IN" sz="2400" dirty="0"/>
          </a:p>
        </p:txBody>
      </p:sp>
    </p:spTree>
    <p:extLst>
      <p:ext uri="{BB962C8B-B14F-4D97-AF65-F5344CB8AC3E}">
        <p14:creationId xmlns:p14="http://schemas.microsoft.com/office/powerpoint/2010/main" val="7987871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Hashing Methods Overview</a:t>
            </a:r>
          </a:p>
        </p:txBody>
      </p:sp>
      <p:sp>
        <p:nvSpPr>
          <p:cNvPr id="3" name="Content Placeholder 2"/>
          <p:cNvSpPr>
            <a:spLocks noGrp="1"/>
          </p:cNvSpPr>
          <p:nvPr>
            <p:ph idx="1"/>
          </p:nvPr>
        </p:nvSpPr>
        <p:spPr/>
        <p:txBody>
          <a:bodyPr/>
          <a:lstStyle/>
          <a:p>
            <a:endParaRPr/>
          </a:p>
          <a:p>
            <a:r>
              <a:t>MD5 – very fast but not secure</a:t>
            </a:r>
          </a:p>
          <a:p>
            <a:r>
              <a:t>SHA-1 – outdated, also unsafe</a:t>
            </a:r>
          </a:p>
          <a:p>
            <a:r>
              <a:t>SHA-256 – stronger but still needs a salt</a:t>
            </a:r>
          </a:p>
          <a:p>
            <a:r>
              <a:t>bcrypt / Argon2 – modern, slow and secure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Hashing &amp; Salting (Future Scope)</a:t>
            </a:r>
          </a:p>
        </p:txBody>
      </p:sp>
      <p:sp>
        <p:nvSpPr>
          <p:cNvPr id="3" name="Content Placeholder 2"/>
          <p:cNvSpPr>
            <a:spLocks noGrp="1"/>
          </p:cNvSpPr>
          <p:nvPr>
            <p:ph idx="1"/>
          </p:nvPr>
        </p:nvSpPr>
        <p:spPr/>
        <p:txBody>
          <a:bodyPr/>
          <a:lstStyle/>
          <a:p>
            <a:r>
              <a:rPr dirty="0"/>
              <a:t> Hash — one-way transform: password → scrambled string (not reversible)</a:t>
            </a:r>
          </a:p>
          <a:p>
            <a:r>
              <a:rPr dirty="0"/>
              <a:t> Salt — random value added before hashing (unique per password)</a:t>
            </a:r>
          </a:p>
          <a:p>
            <a:r>
              <a:rPr dirty="0"/>
              <a:t> Salting prevents rainbow-table attacks and makes identical passwords produce different hashes</a:t>
            </a:r>
          </a:p>
          <a:p>
            <a:r>
              <a:rPr dirty="0"/>
              <a:t> Future enhancement: Offline Hash Mode (with salt) to demo real comparisons safely</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602D01F-23E7-218C-AB71-132B3868289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1000" y="1524000"/>
            <a:ext cx="11430000" cy="3810000"/>
          </a:xfrm>
          <a:prstGeom prst="rect">
            <a:avLst/>
          </a:prstGeom>
        </p:spPr>
      </p:pic>
    </p:spTree>
    <p:extLst>
      <p:ext uri="{BB962C8B-B14F-4D97-AF65-F5344CB8AC3E}">
        <p14:creationId xmlns:p14="http://schemas.microsoft.com/office/powerpoint/2010/main" val="21122151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C00CBA6-5A1A-43BC-8379-ABFFDF01EE3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33905" y="1503946"/>
            <a:ext cx="8558603" cy="5354053"/>
          </a:xfrm>
          <a:prstGeom prst="rect">
            <a:avLst/>
          </a:prstGeom>
        </p:spPr>
      </p:pic>
      <p:sp>
        <p:nvSpPr>
          <p:cNvPr id="8" name="TextBox 7">
            <a:extLst>
              <a:ext uri="{FF2B5EF4-FFF2-40B4-BE49-F238E27FC236}">
                <a16:creationId xmlns:a16="http://schemas.microsoft.com/office/drawing/2014/main" id="{64EDF70D-A737-EF0B-A372-BAE2E69911E6}"/>
              </a:ext>
            </a:extLst>
          </p:cNvPr>
          <p:cNvSpPr txBox="1"/>
          <p:nvPr/>
        </p:nvSpPr>
        <p:spPr>
          <a:xfrm>
            <a:off x="2715788" y="156410"/>
            <a:ext cx="6794835" cy="1077218"/>
          </a:xfrm>
          <a:prstGeom prst="rect">
            <a:avLst/>
          </a:prstGeom>
          <a:noFill/>
        </p:spPr>
        <p:txBody>
          <a:bodyPr wrap="square">
            <a:spAutoFit/>
          </a:bodyPr>
          <a:lstStyle/>
          <a:p>
            <a:r>
              <a:rPr lang="en-US" sz="3200" dirty="0"/>
              <a:t>1.Client-Side Flow of Password Cracking Simulation</a:t>
            </a:r>
            <a:endParaRPr lang="en-IN" sz="3200" dirty="0"/>
          </a:p>
        </p:txBody>
      </p:sp>
    </p:spTree>
    <p:extLst>
      <p:ext uri="{BB962C8B-B14F-4D97-AF65-F5344CB8AC3E}">
        <p14:creationId xmlns:p14="http://schemas.microsoft.com/office/powerpoint/2010/main" val="38315667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7E7A25A-471D-E75A-3463-95DBA40ED45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59209" y="716164"/>
            <a:ext cx="7273582" cy="5973008"/>
          </a:xfrm>
          <a:prstGeom prst="rect">
            <a:avLst/>
          </a:prstGeom>
        </p:spPr>
      </p:pic>
      <p:sp>
        <p:nvSpPr>
          <p:cNvPr id="5" name="TextBox 4">
            <a:extLst>
              <a:ext uri="{FF2B5EF4-FFF2-40B4-BE49-F238E27FC236}">
                <a16:creationId xmlns:a16="http://schemas.microsoft.com/office/drawing/2014/main" id="{360E0936-83D6-CFE6-C01A-F5C100B5EDEB}"/>
              </a:ext>
            </a:extLst>
          </p:cNvPr>
          <p:cNvSpPr txBox="1"/>
          <p:nvPr/>
        </p:nvSpPr>
        <p:spPr>
          <a:xfrm>
            <a:off x="3898231" y="385011"/>
            <a:ext cx="4656221" cy="584775"/>
          </a:xfrm>
          <a:prstGeom prst="rect">
            <a:avLst/>
          </a:prstGeom>
          <a:noFill/>
        </p:spPr>
        <p:txBody>
          <a:bodyPr wrap="square" rtlCol="0">
            <a:spAutoFit/>
          </a:bodyPr>
          <a:lstStyle/>
          <a:p>
            <a:pPr algn="just"/>
            <a:r>
              <a:rPr lang="en-IN" sz="3200" dirty="0"/>
              <a:t> 2.PIN Creation Module</a:t>
            </a:r>
          </a:p>
        </p:txBody>
      </p:sp>
    </p:spTree>
    <p:extLst>
      <p:ext uri="{BB962C8B-B14F-4D97-AF65-F5344CB8AC3E}">
        <p14:creationId xmlns:p14="http://schemas.microsoft.com/office/powerpoint/2010/main" val="40214877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571257B-D4FD-6341-DB29-DC9EDF4CA95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7987" y="864131"/>
            <a:ext cx="7616026" cy="5993869"/>
          </a:xfrm>
          <a:prstGeom prst="rect">
            <a:avLst/>
          </a:prstGeom>
        </p:spPr>
      </p:pic>
      <p:sp>
        <p:nvSpPr>
          <p:cNvPr id="4" name="TextBox 3">
            <a:extLst>
              <a:ext uri="{FF2B5EF4-FFF2-40B4-BE49-F238E27FC236}">
                <a16:creationId xmlns:a16="http://schemas.microsoft.com/office/drawing/2014/main" id="{05881A71-D66F-D38E-BC5A-908B3024F419}"/>
              </a:ext>
            </a:extLst>
          </p:cNvPr>
          <p:cNvSpPr txBox="1"/>
          <p:nvPr/>
        </p:nvSpPr>
        <p:spPr>
          <a:xfrm>
            <a:off x="2854904" y="120316"/>
            <a:ext cx="7361695" cy="584775"/>
          </a:xfrm>
          <a:prstGeom prst="rect">
            <a:avLst/>
          </a:prstGeom>
          <a:noFill/>
        </p:spPr>
        <p:txBody>
          <a:bodyPr wrap="none" rtlCol="0">
            <a:spAutoFit/>
          </a:bodyPr>
          <a:lstStyle/>
          <a:p>
            <a:r>
              <a:rPr lang="en-US" sz="3200" dirty="0"/>
              <a:t>3.PIN Verification &amp; Cracking Result Display</a:t>
            </a:r>
            <a:endParaRPr lang="en-IN" sz="3200" dirty="0"/>
          </a:p>
        </p:txBody>
      </p:sp>
    </p:spTree>
    <p:extLst>
      <p:ext uri="{BB962C8B-B14F-4D97-AF65-F5344CB8AC3E}">
        <p14:creationId xmlns:p14="http://schemas.microsoft.com/office/powerpoint/2010/main" val="164378677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C7DF89F-B4E3-57D2-915B-695A4BD9560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88830" y="1002323"/>
            <a:ext cx="9214340" cy="5375032"/>
          </a:xfrm>
          <a:prstGeom prst="rect">
            <a:avLst/>
          </a:prstGeom>
        </p:spPr>
      </p:pic>
      <p:sp>
        <p:nvSpPr>
          <p:cNvPr id="5" name="TextBox 4">
            <a:extLst>
              <a:ext uri="{FF2B5EF4-FFF2-40B4-BE49-F238E27FC236}">
                <a16:creationId xmlns:a16="http://schemas.microsoft.com/office/drawing/2014/main" id="{58F7474B-0105-C803-24A7-5C2185C0D217}"/>
              </a:ext>
            </a:extLst>
          </p:cNvPr>
          <p:cNvSpPr txBox="1"/>
          <p:nvPr/>
        </p:nvSpPr>
        <p:spPr>
          <a:xfrm>
            <a:off x="4021883" y="246185"/>
            <a:ext cx="4242700" cy="461665"/>
          </a:xfrm>
          <a:prstGeom prst="rect">
            <a:avLst/>
          </a:prstGeom>
          <a:noFill/>
        </p:spPr>
        <p:txBody>
          <a:bodyPr wrap="none" rtlCol="0">
            <a:spAutoFit/>
          </a:bodyPr>
          <a:lstStyle/>
          <a:p>
            <a:r>
              <a:rPr lang="en-US" sz="2400" dirty="0"/>
              <a:t>4.Check the Password Rules First</a:t>
            </a:r>
            <a:endParaRPr lang="en-IN" sz="2400" dirty="0"/>
          </a:p>
        </p:txBody>
      </p:sp>
    </p:spTree>
    <p:extLst>
      <p:ext uri="{BB962C8B-B14F-4D97-AF65-F5344CB8AC3E}">
        <p14:creationId xmlns:p14="http://schemas.microsoft.com/office/powerpoint/2010/main" val="129712870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3852697-F2F4-CB9C-EF4F-3E22B9F9E7C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13021" y="1091488"/>
            <a:ext cx="8799856" cy="5695440"/>
          </a:xfrm>
          <a:prstGeom prst="rect">
            <a:avLst/>
          </a:prstGeom>
        </p:spPr>
      </p:pic>
      <p:sp>
        <p:nvSpPr>
          <p:cNvPr id="4" name="TextBox 3">
            <a:extLst>
              <a:ext uri="{FF2B5EF4-FFF2-40B4-BE49-F238E27FC236}">
                <a16:creationId xmlns:a16="http://schemas.microsoft.com/office/drawing/2014/main" id="{0DD0C43E-4D93-C03A-7274-416448438A93}"/>
              </a:ext>
            </a:extLst>
          </p:cNvPr>
          <p:cNvSpPr txBox="1"/>
          <p:nvPr/>
        </p:nvSpPr>
        <p:spPr>
          <a:xfrm>
            <a:off x="2382253" y="276726"/>
            <a:ext cx="8165249" cy="584775"/>
          </a:xfrm>
          <a:prstGeom prst="rect">
            <a:avLst/>
          </a:prstGeom>
          <a:noFill/>
        </p:spPr>
        <p:txBody>
          <a:bodyPr wrap="none" rtlCol="0">
            <a:spAutoFit/>
          </a:bodyPr>
          <a:lstStyle/>
          <a:p>
            <a:r>
              <a:rPr lang="en-US" sz="3200" dirty="0"/>
              <a:t>5.Password Generation and Complexity Analysis</a:t>
            </a:r>
            <a:endParaRPr lang="en-IN" sz="3200" dirty="0"/>
          </a:p>
        </p:txBody>
      </p:sp>
    </p:spTree>
    <p:extLst>
      <p:ext uri="{BB962C8B-B14F-4D97-AF65-F5344CB8AC3E}">
        <p14:creationId xmlns:p14="http://schemas.microsoft.com/office/powerpoint/2010/main" val="153433731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0CEA4B9-1B08-5E64-1538-CAE55018D49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02569" y="1288879"/>
            <a:ext cx="7906420" cy="5569121"/>
          </a:xfrm>
          <a:prstGeom prst="rect">
            <a:avLst/>
          </a:prstGeom>
        </p:spPr>
      </p:pic>
      <p:sp>
        <p:nvSpPr>
          <p:cNvPr id="4" name="TextBox 3">
            <a:extLst>
              <a:ext uri="{FF2B5EF4-FFF2-40B4-BE49-F238E27FC236}">
                <a16:creationId xmlns:a16="http://schemas.microsoft.com/office/drawing/2014/main" id="{FFF20B59-4F80-0208-B5C2-275A2F64660C}"/>
              </a:ext>
            </a:extLst>
          </p:cNvPr>
          <p:cNvSpPr txBox="1"/>
          <p:nvPr/>
        </p:nvSpPr>
        <p:spPr>
          <a:xfrm>
            <a:off x="2321794" y="324852"/>
            <a:ext cx="8580554" cy="584775"/>
          </a:xfrm>
          <a:prstGeom prst="rect">
            <a:avLst/>
          </a:prstGeom>
          <a:noFill/>
        </p:spPr>
        <p:txBody>
          <a:bodyPr wrap="none" rtlCol="0">
            <a:spAutoFit/>
          </a:bodyPr>
          <a:lstStyle/>
          <a:p>
            <a:r>
              <a:rPr lang="en-IN" sz="3200" dirty="0"/>
              <a:t>6.Brute Force Simulation for 8-Character Password</a:t>
            </a:r>
          </a:p>
        </p:txBody>
      </p:sp>
    </p:spTree>
    <p:extLst>
      <p:ext uri="{BB962C8B-B14F-4D97-AF65-F5344CB8AC3E}">
        <p14:creationId xmlns:p14="http://schemas.microsoft.com/office/powerpoint/2010/main" val="199796541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D0454B1-0427-4B0B-CCC0-32594EAF08EF}"/>
              </a:ext>
            </a:extLst>
          </p:cNvPr>
          <p:cNvSpPr txBox="1"/>
          <p:nvPr/>
        </p:nvSpPr>
        <p:spPr>
          <a:xfrm>
            <a:off x="3902396" y="323309"/>
            <a:ext cx="5301607" cy="584775"/>
          </a:xfrm>
          <a:prstGeom prst="rect">
            <a:avLst/>
          </a:prstGeom>
          <a:noFill/>
        </p:spPr>
        <p:txBody>
          <a:bodyPr wrap="square" rtlCol="0">
            <a:spAutoFit/>
          </a:bodyPr>
          <a:lstStyle/>
          <a:p>
            <a:r>
              <a:rPr lang="en-US" sz="3200" dirty="0"/>
              <a:t>Future Enhancement </a:t>
            </a:r>
            <a:endParaRPr lang="en-IN" sz="3200" dirty="0"/>
          </a:p>
        </p:txBody>
      </p:sp>
      <p:sp>
        <p:nvSpPr>
          <p:cNvPr id="5" name="TextBox 4">
            <a:extLst>
              <a:ext uri="{FF2B5EF4-FFF2-40B4-BE49-F238E27FC236}">
                <a16:creationId xmlns:a16="http://schemas.microsoft.com/office/drawing/2014/main" id="{B45C3BE9-EE69-83CE-43E2-D2C6AD066EAA}"/>
              </a:ext>
            </a:extLst>
          </p:cNvPr>
          <p:cNvSpPr txBox="1"/>
          <p:nvPr/>
        </p:nvSpPr>
        <p:spPr>
          <a:xfrm>
            <a:off x="312944" y="1034716"/>
            <a:ext cx="11117179" cy="5632311"/>
          </a:xfrm>
          <a:prstGeom prst="rect">
            <a:avLst/>
          </a:prstGeom>
          <a:noFill/>
        </p:spPr>
        <p:txBody>
          <a:bodyPr wrap="square" rtlCol="0">
            <a:spAutoFit/>
          </a:bodyPr>
          <a:lstStyle/>
          <a:p>
            <a:pPr lvl="0" eaLnBrk="0" fontAlgn="base" hangingPunct="0">
              <a:spcBef>
                <a:spcPct val="0"/>
              </a:spcBef>
              <a:spcAft>
                <a:spcPct val="0"/>
              </a:spcAft>
            </a:pPr>
            <a:r>
              <a:rPr lang="en-US" altLang="en-US" sz="2400" b="1" dirty="0">
                <a:latin typeface="Arial" panose="020B0604020202020204" pitchFamily="34" charset="0"/>
              </a:rPr>
              <a:t>1.Offline Hash Mode (with Salt)</a:t>
            </a:r>
            <a:br>
              <a:rPr lang="en-US" altLang="en-US" sz="2400" dirty="0">
                <a:latin typeface="Arial" panose="020B0604020202020204" pitchFamily="34" charset="0"/>
              </a:rPr>
            </a:br>
            <a:r>
              <a:rPr lang="en-US" altLang="en-US" sz="2400" dirty="0">
                <a:latin typeface="Arial" panose="020B0604020202020204" pitchFamily="34" charset="0"/>
              </a:rPr>
              <a:t>      Accept a password </a:t>
            </a:r>
            <a:r>
              <a:rPr lang="en-US" altLang="en-US" sz="2400" i="1" dirty="0">
                <a:latin typeface="Arial" panose="020B0604020202020204" pitchFamily="34" charset="0"/>
              </a:rPr>
              <a:t>hash</a:t>
            </a:r>
            <a:r>
              <a:rPr lang="en-US" altLang="en-US" sz="2400" dirty="0">
                <a:latin typeface="Arial" panose="020B0604020202020204" pitchFamily="34" charset="0"/>
              </a:rPr>
              <a:t> (and optional salt) and test guesses</a:t>
            </a:r>
          </a:p>
          <a:p>
            <a:pPr lvl="0" eaLnBrk="0" fontAlgn="base" hangingPunct="0">
              <a:spcBef>
                <a:spcPct val="0"/>
              </a:spcBef>
              <a:spcAft>
                <a:spcPct val="0"/>
              </a:spcAft>
            </a:pPr>
            <a:r>
              <a:rPr lang="en-US" altLang="en-US" sz="2400" dirty="0">
                <a:latin typeface="Arial" panose="020B0604020202020204" pitchFamily="34" charset="0"/>
              </a:rPr>
              <a:t>      locally to show how real cracking works.</a:t>
            </a:r>
          </a:p>
          <a:p>
            <a:pPr lvl="0" eaLnBrk="0" fontAlgn="base" hangingPunct="0">
              <a:spcBef>
                <a:spcPct val="0"/>
              </a:spcBef>
              <a:spcAft>
                <a:spcPct val="0"/>
              </a:spcAft>
            </a:pPr>
            <a:endParaRPr lang="en-US" altLang="en-US" sz="2400" dirty="0">
              <a:latin typeface="Arial" panose="020B0604020202020204" pitchFamily="34" charset="0"/>
            </a:endParaRPr>
          </a:p>
          <a:p>
            <a:pPr lvl="0" eaLnBrk="0" fontAlgn="base" hangingPunct="0">
              <a:spcBef>
                <a:spcPct val="0"/>
              </a:spcBef>
              <a:spcAft>
                <a:spcPct val="0"/>
              </a:spcAft>
            </a:pPr>
            <a:r>
              <a:rPr lang="en-US" altLang="en-US" sz="2400" b="1" dirty="0">
                <a:latin typeface="Arial" panose="020B0604020202020204" pitchFamily="34" charset="0"/>
              </a:rPr>
              <a:t>2.Wordlists + Simple Rules</a:t>
            </a:r>
            <a:br>
              <a:rPr lang="en-US" altLang="en-US" sz="2400" dirty="0">
                <a:latin typeface="Arial" panose="020B0604020202020204" pitchFamily="34" charset="0"/>
              </a:rPr>
            </a:br>
            <a:r>
              <a:rPr lang="en-US" altLang="en-US" sz="2400" dirty="0">
                <a:latin typeface="Arial" panose="020B0604020202020204" pitchFamily="34" charset="0"/>
              </a:rPr>
              <a:t>      Let users upload/choose common wordlists and apply transforms </a:t>
            </a:r>
          </a:p>
          <a:p>
            <a:pPr lvl="0" eaLnBrk="0" fontAlgn="base" hangingPunct="0">
              <a:spcBef>
                <a:spcPct val="0"/>
              </a:spcBef>
              <a:spcAft>
                <a:spcPct val="0"/>
              </a:spcAft>
            </a:pPr>
            <a:r>
              <a:rPr lang="en-US" altLang="en-US" sz="2400" dirty="0">
                <a:latin typeface="Arial" panose="020B0604020202020204" pitchFamily="34" charset="0"/>
              </a:rPr>
              <a:t>      (add “123”, capitalize) so attacks look practical, not random.</a:t>
            </a:r>
          </a:p>
          <a:p>
            <a:pPr lvl="0" eaLnBrk="0" fontAlgn="base" hangingPunct="0">
              <a:spcBef>
                <a:spcPct val="0"/>
              </a:spcBef>
              <a:spcAft>
                <a:spcPct val="0"/>
              </a:spcAft>
            </a:pPr>
            <a:endParaRPr lang="en-US" altLang="en-US" sz="2400" dirty="0">
              <a:latin typeface="Arial" panose="020B0604020202020204" pitchFamily="34" charset="0"/>
            </a:endParaRPr>
          </a:p>
          <a:p>
            <a:pPr lvl="0" eaLnBrk="0" fontAlgn="base" hangingPunct="0">
              <a:spcBef>
                <a:spcPct val="0"/>
              </a:spcBef>
              <a:spcAft>
                <a:spcPct val="0"/>
              </a:spcAft>
            </a:pPr>
            <a:r>
              <a:rPr lang="en-US" altLang="en-US" sz="2400" b="1" dirty="0">
                <a:latin typeface="Arial" panose="020B0604020202020204" pitchFamily="34" charset="0"/>
              </a:rPr>
              <a:t>3.Consent + Wipe Controls</a:t>
            </a:r>
            <a:br>
              <a:rPr lang="en-US" altLang="en-US" sz="2400" dirty="0">
                <a:latin typeface="Arial" panose="020B0604020202020204" pitchFamily="34" charset="0"/>
              </a:rPr>
            </a:br>
            <a:r>
              <a:rPr lang="en-US" altLang="en-US" sz="2400" dirty="0">
                <a:latin typeface="Arial" panose="020B0604020202020204" pitchFamily="34" charset="0"/>
              </a:rPr>
              <a:t>      Require a permission checkbox before running and add a one-click</a:t>
            </a:r>
          </a:p>
          <a:p>
            <a:pPr lvl="0" eaLnBrk="0" fontAlgn="base" hangingPunct="0">
              <a:spcBef>
                <a:spcPct val="0"/>
              </a:spcBef>
              <a:spcAft>
                <a:spcPct val="0"/>
              </a:spcAft>
            </a:pPr>
            <a:r>
              <a:rPr lang="en-US" altLang="en-US" sz="2400" dirty="0">
                <a:latin typeface="Arial" panose="020B0604020202020204" pitchFamily="34" charset="0"/>
              </a:rPr>
              <a:t>     “Wipe demo data” to erase </a:t>
            </a:r>
            <a:r>
              <a:rPr lang="en-US" altLang="en-US" sz="2400" dirty="0" err="1">
                <a:latin typeface="Arial" panose="020B0604020202020204" pitchFamily="34" charset="0"/>
              </a:rPr>
              <a:t>localStorage</a:t>
            </a:r>
            <a:r>
              <a:rPr lang="en-US" altLang="en-US" sz="2400" dirty="0">
                <a:latin typeface="Arial" panose="020B0604020202020204" pitchFamily="34" charset="0"/>
              </a:rPr>
              <a:t> for safety.</a:t>
            </a:r>
          </a:p>
          <a:p>
            <a:pPr lvl="0" eaLnBrk="0" fontAlgn="base" hangingPunct="0">
              <a:spcBef>
                <a:spcPct val="0"/>
              </a:spcBef>
              <a:spcAft>
                <a:spcPct val="0"/>
              </a:spcAft>
              <a:buFontTx/>
              <a:buChar char="•"/>
            </a:pPr>
            <a:endParaRPr lang="en-US" altLang="en-US" sz="2400" dirty="0">
              <a:latin typeface="Arial" panose="020B0604020202020204" pitchFamily="34" charset="0"/>
            </a:endParaRPr>
          </a:p>
          <a:p>
            <a:pPr lvl="0" eaLnBrk="0" fontAlgn="base" hangingPunct="0">
              <a:spcBef>
                <a:spcPct val="0"/>
              </a:spcBef>
              <a:spcAft>
                <a:spcPct val="0"/>
              </a:spcAft>
            </a:pPr>
            <a:r>
              <a:rPr lang="en-US" altLang="en-US" sz="2400" b="1" dirty="0">
                <a:latin typeface="Arial" panose="020B0604020202020204" pitchFamily="34" charset="0"/>
              </a:rPr>
              <a:t>4.Visual Presets &amp; Charts</a:t>
            </a:r>
            <a:br>
              <a:rPr lang="en-US" altLang="en-US" sz="2400" dirty="0">
                <a:latin typeface="Arial" panose="020B0604020202020204" pitchFamily="34" charset="0"/>
              </a:rPr>
            </a:br>
            <a:r>
              <a:rPr lang="en-US" altLang="en-US" sz="2400" dirty="0">
                <a:latin typeface="Arial" panose="020B0604020202020204" pitchFamily="34" charset="0"/>
              </a:rPr>
              <a:t>      Add one-click scenarios (e.g., “Weak PIN”, “Salted hash”)</a:t>
            </a:r>
          </a:p>
          <a:p>
            <a:pPr lvl="0" eaLnBrk="0" fontAlgn="base" hangingPunct="0">
              <a:spcBef>
                <a:spcPct val="0"/>
              </a:spcBef>
              <a:spcAft>
                <a:spcPct val="0"/>
              </a:spcAft>
            </a:pPr>
            <a:r>
              <a:rPr lang="en-US" altLang="en-US" sz="2400" dirty="0">
                <a:latin typeface="Arial" panose="020B0604020202020204" pitchFamily="34" charset="0"/>
              </a:rPr>
              <a:t>      and simple charts (attempts/sec, ETA) to teach faster</a:t>
            </a:r>
            <a:endParaRPr lang="en-IN" sz="2400" dirty="0"/>
          </a:p>
        </p:txBody>
      </p:sp>
    </p:spTree>
    <p:extLst>
      <p:ext uri="{BB962C8B-B14F-4D97-AF65-F5344CB8AC3E}">
        <p14:creationId xmlns:p14="http://schemas.microsoft.com/office/powerpoint/2010/main" val="402965411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8DE6D43-0491-FD94-37BB-41A1AB283B2C}"/>
              </a:ext>
            </a:extLst>
          </p:cNvPr>
          <p:cNvSpPr txBox="1"/>
          <p:nvPr/>
        </p:nvSpPr>
        <p:spPr>
          <a:xfrm>
            <a:off x="2197272" y="469232"/>
            <a:ext cx="7797456" cy="4524315"/>
          </a:xfrm>
          <a:prstGeom prst="rect">
            <a:avLst/>
          </a:prstGeom>
          <a:noFill/>
        </p:spPr>
        <p:txBody>
          <a:bodyPr wrap="none" rtlCol="0">
            <a:spAutoFit/>
          </a:bodyPr>
          <a:lstStyle/>
          <a:p>
            <a:endParaRPr lang="en-IN" sz="2400" b="1" dirty="0"/>
          </a:p>
          <a:p>
            <a:br>
              <a:rPr lang="en-IN" sz="2400" dirty="0"/>
            </a:br>
            <a:r>
              <a:rPr lang="en-IN" sz="2400" b="1" dirty="0"/>
              <a:t>Future of Password Security</a:t>
            </a:r>
          </a:p>
          <a:p>
            <a:endParaRPr lang="en-IN" sz="2400" dirty="0"/>
          </a:p>
          <a:p>
            <a:pPr marL="285750" indent="-285750">
              <a:buFont typeface="Arial" panose="020B0604020202020204" pitchFamily="34" charset="0"/>
              <a:buChar char="•"/>
            </a:pPr>
            <a:r>
              <a:rPr lang="en-IN" sz="2400" dirty="0"/>
              <a:t> </a:t>
            </a:r>
            <a:r>
              <a:rPr lang="en-IN" sz="2400" b="1" dirty="0" err="1"/>
              <a:t>Passwordless</a:t>
            </a:r>
            <a:r>
              <a:rPr lang="en-IN" sz="2400" b="1" dirty="0"/>
              <a:t> logins</a:t>
            </a:r>
            <a:r>
              <a:rPr lang="en-IN" sz="2400" dirty="0"/>
              <a:t> using fingerprints or face recognition.</a:t>
            </a:r>
          </a:p>
          <a:p>
            <a:pPr marL="285750" indent="-285750">
              <a:buFont typeface="Arial" panose="020B0604020202020204" pitchFamily="34" charset="0"/>
              <a:buChar char="•"/>
            </a:pPr>
            <a:endParaRPr lang="en-IN" sz="2400" dirty="0"/>
          </a:p>
          <a:p>
            <a:pPr marL="285750" indent="-285750">
              <a:buFont typeface="Arial" panose="020B0604020202020204" pitchFamily="34" charset="0"/>
              <a:buChar char="•"/>
            </a:pPr>
            <a:r>
              <a:rPr lang="en-IN" sz="2400" dirty="0"/>
              <a:t> </a:t>
            </a:r>
            <a:r>
              <a:rPr lang="en-IN" sz="2400" b="1" dirty="0"/>
              <a:t>Two-Factor Authentication (2FA)</a:t>
            </a:r>
            <a:r>
              <a:rPr lang="en-IN" sz="2400" dirty="0"/>
              <a:t> becoming standard.</a:t>
            </a:r>
          </a:p>
          <a:p>
            <a:pPr marL="285750" indent="-285750">
              <a:buFont typeface="Arial" panose="020B0604020202020204" pitchFamily="34" charset="0"/>
              <a:buChar char="•"/>
            </a:pPr>
            <a:endParaRPr lang="en-IN" sz="2400" dirty="0"/>
          </a:p>
          <a:p>
            <a:pPr marL="285750" indent="-285750">
              <a:buFont typeface="Arial" panose="020B0604020202020204" pitchFamily="34" charset="0"/>
              <a:buChar char="•"/>
            </a:pPr>
            <a:r>
              <a:rPr lang="en-IN" sz="2400" dirty="0"/>
              <a:t> </a:t>
            </a:r>
            <a:r>
              <a:rPr lang="en-IN" sz="2400" b="1" dirty="0"/>
              <a:t>Hardware keys (like YubiKey)</a:t>
            </a:r>
            <a:r>
              <a:rPr lang="en-IN" sz="2400" dirty="0"/>
              <a:t> for stronger protection.</a:t>
            </a:r>
          </a:p>
          <a:p>
            <a:pPr marL="285750" indent="-285750">
              <a:buFont typeface="Arial" panose="020B0604020202020204" pitchFamily="34" charset="0"/>
              <a:buChar char="•"/>
            </a:pPr>
            <a:endParaRPr lang="en-IN" sz="2400" dirty="0"/>
          </a:p>
          <a:p>
            <a:pPr marL="285750" indent="-285750">
              <a:buFont typeface="Arial" panose="020B0604020202020204" pitchFamily="34" charset="0"/>
              <a:buChar char="•"/>
            </a:pPr>
            <a:r>
              <a:rPr lang="en-IN" sz="2400" dirty="0"/>
              <a:t> </a:t>
            </a:r>
            <a:r>
              <a:rPr lang="en-IN" sz="2400" b="1" dirty="0"/>
              <a:t>AI-based threat detection</a:t>
            </a:r>
            <a:r>
              <a:rPr lang="en-IN" sz="2400" dirty="0"/>
              <a:t> to stop brute-force attack.</a:t>
            </a:r>
          </a:p>
          <a:p>
            <a:endParaRPr lang="en-IN" sz="2400" dirty="0"/>
          </a:p>
        </p:txBody>
      </p:sp>
    </p:spTree>
    <p:extLst>
      <p:ext uri="{BB962C8B-B14F-4D97-AF65-F5344CB8AC3E}">
        <p14:creationId xmlns:p14="http://schemas.microsoft.com/office/powerpoint/2010/main" val="380422714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31631" y="259617"/>
            <a:ext cx="10515600" cy="1325563"/>
          </a:xfrm>
        </p:spPr>
        <p:txBody>
          <a:bodyPr/>
          <a:lstStyle/>
          <a:p>
            <a:r>
              <a:rPr lang="en-IN" dirty="0"/>
              <a:t>             </a:t>
            </a:r>
            <a:r>
              <a:rPr dirty="0"/>
              <a:t>Real-World Importance</a:t>
            </a:r>
          </a:p>
        </p:txBody>
      </p:sp>
      <p:sp>
        <p:nvSpPr>
          <p:cNvPr id="3" name="Content Placeholder 2"/>
          <p:cNvSpPr>
            <a:spLocks noGrp="1"/>
          </p:cNvSpPr>
          <p:nvPr>
            <p:ph idx="1"/>
          </p:nvPr>
        </p:nvSpPr>
        <p:spPr/>
        <p:txBody>
          <a:bodyPr/>
          <a:lstStyle/>
          <a:p>
            <a:r>
              <a:rPr dirty="0"/>
              <a:t> Weak passwords lead to data breaches and identity theft</a:t>
            </a:r>
          </a:p>
          <a:p>
            <a:r>
              <a:rPr dirty="0"/>
              <a:t> Cracking (ethically) helps security teams find and fix weak passwords</a:t>
            </a:r>
          </a:p>
          <a:p>
            <a:r>
              <a:rPr dirty="0"/>
              <a:t> Use of strong, unique passwords + MFA reduces risk</a:t>
            </a:r>
          </a:p>
          <a:p>
            <a:r>
              <a:rPr dirty="0"/>
              <a:t> Always perform cracking with written permission — for training, audits, and research only</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B0A1EC8-DCF6-AEDB-1AF6-D8D8DBE24E3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1000" y="1524000"/>
            <a:ext cx="11430000" cy="3810000"/>
          </a:xfrm>
          <a:prstGeom prst="rect">
            <a:avLst/>
          </a:prstGeom>
        </p:spPr>
      </p:pic>
    </p:spTree>
    <p:extLst>
      <p:ext uri="{BB962C8B-B14F-4D97-AF65-F5344CB8AC3E}">
        <p14:creationId xmlns:p14="http://schemas.microsoft.com/office/powerpoint/2010/main" val="154607827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504</TotalTime>
  <Words>1969</Words>
  <Application>Microsoft Office PowerPoint</Application>
  <PresentationFormat>Widescreen</PresentationFormat>
  <Paragraphs>211</Paragraphs>
  <Slides>30</Slides>
  <Notes>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30</vt:i4>
      </vt:variant>
    </vt:vector>
  </HeadingPairs>
  <TitlesOfParts>
    <vt:vector size="35" baseType="lpstr">
      <vt:lpstr>Arial</vt:lpstr>
      <vt:lpstr>Calibri</vt:lpstr>
      <vt:lpstr>Calibri Light</vt:lpstr>
      <vt:lpstr>Times New Roman</vt:lpstr>
      <vt:lpstr>Office Theme</vt:lpstr>
      <vt:lpstr>PowerPoint Presentation</vt:lpstr>
      <vt:lpstr>PROJECT PROFILE</vt:lpstr>
      <vt:lpstr>REQUIREMENTS</vt:lpstr>
      <vt:lpstr>INTRODUCTION TO PASSWORD CRACKING</vt:lpstr>
      <vt:lpstr>Why Passwords Get Cracked Easily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Key Features of Password-Cracking Tools</vt:lpstr>
      <vt:lpstr>              Deep Dive — Attack Types</vt:lpstr>
      <vt:lpstr>PowerPoint Presentation</vt:lpstr>
      <vt:lpstr>PowerPoint Presentation</vt:lpstr>
      <vt:lpstr>Hashing Methods Overview</vt:lpstr>
      <vt:lpstr>Hashing &amp; Salting (Future Scope)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Real-World Importance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Vyom Amin</dc:creator>
  <cp:lastModifiedBy>Vyom Amin</cp:lastModifiedBy>
  <cp:revision>16</cp:revision>
  <dcterms:created xsi:type="dcterms:W3CDTF">2025-11-03T11:44:13Z</dcterms:created>
  <dcterms:modified xsi:type="dcterms:W3CDTF">2025-11-07T16:03:23Z</dcterms:modified>
</cp:coreProperties>
</file>