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3" r:id="rId4"/>
    <p:sldId id="259" r:id="rId5"/>
    <p:sldId id="268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9" r:id="rId14"/>
    <p:sldId id="290" r:id="rId15"/>
    <p:sldId id="291" r:id="rId16"/>
    <p:sldId id="292" r:id="rId17"/>
    <p:sldId id="293" r:id="rId18"/>
    <p:sldId id="294" r:id="rId19"/>
    <p:sldId id="282" r:id="rId20"/>
    <p:sldId id="281" r:id="rId21"/>
    <p:sldId id="283" r:id="rId22"/>
    <p:sldId id="285" r:id="rId23"/>
    <p:sldId id="284" r:id="rId24"/>
    <p:sldId id="286" r:id="rId25"/>
    <p:sldId id="287" r:id="rId26"/>
    <p:sldId id="28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255ED-C329-800C-5642-5DD41FC59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F379CC-9621-98CE-A3E3-FEE9D3919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525D8-2827-71B5-108C-878944371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C93F7-1109-42CA-B21A-71264535B33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B41B6-3061-AE41-D1C5-C4D874BDD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A01B3-5D41-776C-7051-4D2BD41F2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47C7-290E-4180-8329-F3B2C7FF5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802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6C98-D5DA-4658-8A80-064214A8B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C5772-C0B0-DB30-7935-824686B01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F017C-73C6-1E17-8398-704B2E654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C93F7-1109-42CA-B21A-71264535B33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A59D1-5B81-5CC8-D2C1-945DE1006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847C7-90D3-EEF6-1192-3450FB89A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47C7-290E-4180-8329-F3B2C7FF5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735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DE95-D828-82F2-8F81-44B7DF40E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FB1C3-087E-F3A3-47CB-2CC9BEBBE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2F145-F8DB-4CA5-7BCE-BF76A1F91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C93F7-1109-42CA-B21A-71264535B33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F1C8F-FA7C-35C8-066E-EB4433C4B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3CA4A-C316-0E91-5728-8CB6E463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47C7-290E-4180-8329-F3B2C7FF5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362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B6FFF-D247-D9CC-8DD8-EB12235E8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D4BC0-E23B-8E83-831E-4CC8BB4838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1B399-27DC-56C9-F59D-58808AD4E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1EB4F-31EA-7424-C119-5520CDBE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C93F7-1109-42CA-B21A-71264535B33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E543B-95DD-666E-7A60-9CDC98E6D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18F0A-8201-373F-FE14-7D7B7C27C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47C7-290E-4180-8329-F3B2C7FF5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86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E1FBC-CB24-20BD-E4ED-3166F502B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61133-2F23-2791-F8D6-548AF3291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DA0E12-0279-E68A-5D87-5978ACDD5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E8E3E8-E984-7358-D70D-F6978335C1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4816AB-9F22-918A-0B88-8815F1EFB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F03C8E-5DCF-DABF-E3C6-C414B900D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C93F7-1109-42CA-B21A-71264535B33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FC7A41-7D0D-90CA-80C4-C84807605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1F8306-B2F2-9D35-7C44-80E56DE5F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47C7-290E-4180-8329-F3B2C7FF5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53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912D1-8683-2555-6D3D-943A894C9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37E1A7-BDC2-12AB-9C2A-3B6AEC657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C93F7-1109-42CA-B21A-71264535B33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AB5553-5642-8491-560B-DCE13AED7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7619E-F1C4-B8DC-0EAF-890592542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47C7-290E-4180-8329-F3B2C7FF5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721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EBA906-9607-57BA-4682-2728E5EFE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C93F7-1109-42CA-B21A-71264535B33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5DCC77-6E53-D720-6A2B-2D565A66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4BB24-09B0-3375-41CA-68158D13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47C7-290E-4180-8329-F3B2C7FF5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29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8B329-B365-9197-FE7D-F318E4766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4ACD8-5C7B-AB02-2EF9-632C8CB52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3CF898-79D9-CF7B-66BD-DB9DFDB66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78CCC-0E27-78CB-2072-5C5477BA0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C93F7-1109-42CA-B21A-71264535B33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CB965-1A73-9F6C-90E3-C9623ACDB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2C83D-7D04-D4F7-2DEF-89B19F2E6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47C7-290E-4180-8329-F3B2C7FF5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103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AF5BE-5CDB-84E2-B2CA-88ED3A400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0744-0E1C-CF31-C21E-6CD34E8702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D8B8C-8E52-A4E0-3A1C-232C2080B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FFAE4-6416-411D-7CDD-B0FF566BC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C93F7-1109-42CA-B21A-71264535B33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C79FE-C46E-1069-3AFE-F9478B27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DA456-87BF-6382-EBFA-DC9733EA0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47C7-290E-4180-8329-F3B2C7FF5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827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B936E-FB8F-2AC9-BAA1-9FD835B5F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6EC08-83AF-D0F2-6B3F-4CB8353C52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8163F-5A33-2E44-D48D-4A9BD61E5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C93F7-1109-42CA-B21A-71264535B33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EF7F9-D8C1-CE8F-7418-5CCA91DC3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E962F-A939-5A6D-387C-84C0E48DC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47C7-290E-4180-8329-F3B2C7FF5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803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3D2F7C-862E-4261-5BD9-C0862E0AAB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52B39F-B826-C0ED-0BBB-46573E75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E284F-F801-7C78-46E6-B3A591F3B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C93F7-1109-42CA-B21A-71264535B33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94936-5983-4B25-1FE3-C4B86C01F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3FE8D-B081-0BA6-7D03-608080DF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B47C7-290E-4180-8329-F3B2C7FF5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859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EB6092-06D8-AFD4-20D4-FB9EA1095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B8775-EE96-5DF6-C21F-B6D59898A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B5007-DCF9-83AD-9AC7-B735F4E114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C93F7-1109-42CA-B21A-71264535B33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5999D-A591-F9AD-EE55-BEE3FE77D4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AE924-F51A-C62E-B348-47DCC7DE9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B47C7-290E-4180-8329-F3B2C7FF5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34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EB5911F-4CE8-F17D-D2DB-8B752E93096A}"/>
              </a:ext>
            </a:extLst>
          </p:cNvPr>
          <p:cNvSpPr txBox="1"/>
          <p:nvPr/>
        </p:nvSpPr>
        <p:spPr>
          <a:xfrm>
            <a:off x="1034796" y="1188679"/>
            <a:ext cx="10122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 ON:</a:t>
            </a:r>
            <a:b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Cracking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F1D7C3-B678-C011-BDFC-FABA7BC1D9C9}"/>
              </a:ext>
            </a:extLst>
          </p:cNvPr>
          <p:cNvSpPr txBox="1"/>
          <p:nvPr/>
        </p:nvSpPr>
        <p:spPr>
          <a:xfrm>
            <a:off x="2543556" y="3770005"/>
            <a:ext cx="7275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8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SUBMITTED BY:</a:t>
            </a: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IN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Chokshi Khushi (23082291058)</a:t>
            </a:r>
            <a:endParaRPr lang="en-IN" sz="1800" b="1"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Font typeface="Arial"/>
              <a:buNone/>
            </a:pPr>
            <a:r>
              <a:rPr lang="en-IN" sz="1800" b="1" dirty="0"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Amin Purvang Vyom (23082291111)</a:t>
            </a:r>
            <a:endParaRPr lang="en-IN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FFF8119-E749-CD60-00AB-A93A39D0F690}"/>
              </a:ext>
            </a:extLst>
          </p:cNvPr>
          <p:cNvCxnSpPr/>
          <p:nvPr/>
        </p:nvCxnSpPr>
        <p:spPr>
          <a:xfrm>
            <a:off x="1161288" y="5166360"/>
            <a:ext cx="10040112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FEB811D-123A-6BCB-B3D3-03AFB11933C8}"/>
              </a:ext>
            </a:extLst>
          </p:cNvPr>
          <p:cNvSpPr txBox="1"/>
          <p:nvPr/>
        </p:nvSpPr>
        <p:spPr>
          <a:xfrm>
            <a:off x="3048762" y="5428001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Font typeface="Arial"/>
              <a:buNone/>
            </a:pPr>
            <a:r>
              <a:rPr lang="en-GB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  <a:sym typeface="Georgia"/>
              </a:rPr>
              <a:t>SUBMITTED TO:</a:t>
            </a:r>
            <a:endParaRPr lang="en-GB" sz="1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Department of Computer Science</a:t>
            </a:r>
            <a:endParaRPr lang="en-GB" sz="1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GANPAT UNIVERSITY</a:t>
            </a:r>
            <a:endParaRPr lang="en-GB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2025 -26</a:t>
            </a:r>
            <a:endParaRPr lang="en-GB" sz="1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Century Gothic"/>
              <a:cs typeface="Times New Roman" panose="02020603050405020304" pitchFamily="18" charset="0"/>
              <a:sym typeface="Century Gothic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D2B929-82F4-12A7-8E05-E999E78E6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741" y="2089606"/>
            <a:ext cx="5971032" cy="145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338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83494-99E2-7EBD-DC10-000DF20CD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PROFILE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6C60E6-294E-21EB-3AEE-0EC10832B2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1054784"/>
              </p:ext>
            </p:extLst>
          </p:nvPr>
        </p:nvGraphicFramePr>
        <p:xfrm>
          <a:off x="838200" y="1825625"/>
          <a:ext cx="10515600" cy="407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9048">
                  <a:extLst>
                    <a:ext uri="{9D8B030D-6E8A-4147-A177-3AD203B41FA5}">
                      <a16:colId xmlns:a16="http://schemas.microsoft.com/office/drawing/2014/main" val="2667112314"/>
                    </a:ext>
                  </a:extLst>
                </a:gridCol>
                <a:gridCol w="8226552">
                  <a:extLst>
                    <a:ext uri="{9D8B030D-6E8A-4147-A177-3AD203B41FA5}">
                      <a16:colId xmlns:a16="http://schemas.microsoft.com/office/drawing/2014/main" val="810601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TITLE: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 Cracking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288857"/>
                  </a:ext>
                </a:extLst>
              </a:tr>
              <a:tr h="145950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Aspiring penetration tester seeking opportunities to apply ethical password auditing and vulnerability assessment skills to strengthen organizational authentication controls and reduce account compromise risk.</a:t>
                      </a:r>
                      <a:endParaRPr lang="en-US" sz="16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US" sz="16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643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TOOLS and Technology: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tml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,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css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,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javascript,VsCode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789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10/11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351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17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748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SUBMITTED BY: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Khushi Chokshi (23082291058), Vyom Amin (23082291111)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462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SUBMITTED TO: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Of Computer Science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089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2368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19424-211E-FAE0-B9B9-E35BDA6E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1C5010-21E6-994B-7EF5-1B27DB5641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4824375"/>
              </p:ext>
            </p:extLst>
          </p:nvPr>
        </p:nvGraphicFramePr>
        <p:xfrm>
          <a:off x="838200" y="1825624"/>
          <a:ext cx="4849368" cy="4061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684">
                  <a:extLst>
                    <a:ext uri="{9D8B030D-6E8A-4147-A177-3AD203B41FA5}">
                      <a16:colId xmlns:a16="http://schemas.microsoft.com/office/drawing/2014/main" val="2510223486"/>
                    </a:ext>
                  </a:extLst>
                </a:gridCol>
                <a:gridCol w="2424684">
                  <a:extLst>
                    <a:ext uri="{9D8B030D-6E8A-4147-A177-3AD203B41FA5}">
                      <a16:colId xmlns:a16="http://schemas.microsoft.com/office/drawing/2014/main" val="1610121814"/>
                    </a:ext>
                  </a:extLst>
                </a:gridCol>
              </a:tblGrid>
              <a:tr h="676971">
                <a:tc gridSpan="2"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REQUIREMENTS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396768"/>
                  </a:ext>
                </a:extLst>
              </a:tr>
              <a:tr h="67697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CORES(Minimum)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91964"/>
                  </a:ext>
                </a:extLst>
              </a:tr>
              <a:tr h="67697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8GB(Minimum)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693865"/>
                  </a:ext>
                </a:extLst>
              </a:tr>
              <a:tr h="67697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10/11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691727"/>
                  </a:ext>
                </a:extLst>
              </a:tr>
              <a:tr h="67697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PowerShell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611750"/>
                  </a:ext>
                </a:extLst>
              </a:tr>
              <a:tr h="67697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code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code1.104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55001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5AC894-8845-6CA2-2061-01DB2D2AD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890440"/>
              </p:ext>
            </p:extLst>
          </p:nvPr>
        </p:nvGraphicFramePr>
        <p:xfrm>
          <a:off x="6593305" y="1941095"/>
          <a:ext cx="4760496" cy="200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6290">
                  <a:extLst>
                    <a:ext uri="{9D8B030D-6E8A-4147-A177-3AD203B41FA5}">
                      <a16:colId xmlns:a16="http://schemas.microsoft.com/office/drawing/2014/main" val="1369811690"/>
                    </a:ext>
                  </a:extLst>
                </a:gridCol>
                <a:gridCol w="2364206">
                  <a:extLst>
                    <a:ext uri="{9D8B030D-6E8A-4147-A177-3AD203B41FA5}">
                      <a16:colId xmlns:a16="http://schemas.microsoft.com/office/drawing/2014/main" val="3653242287"/>
                    </a:ext>
                  </a:extLst>
                </a:gridCol>
              </a:tblGrid>
              <a:tr h="831528">
                <a:tc gridSpan="2"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REQUIREMENTS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613089"/>
                  </a:ext>
                </a:extLst>
              </a:tr>
              <a:tr h="58696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849665"/>
                  </a:ext>
                </a:extLst>
              </a:tr>
              <a:tr h="586961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HTML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56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47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5CECF-71DA-A39C-41CE-3FDC1D62C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PASSWORD CRACKING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D560E7-0BA4-2735-A1B4-427ACB2AC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97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/>
              <a:t>  What is password cracking?</a:t>
            </a:r>
          </a:p>
          <a:p>
            <a:r>
              <a:rPr lang="en-US" sz="2600" dirty="0"/>
              <a:t> Password cracking is the process of trying to discover a user’s password by    testing possible values until the correct one is found. It’s a technical way to  recover or guess passwords — and like a hammer, it can be used for good  (recovering your own password, penetration testing with permission) or for harm (unauthorized access).</a:t>
            </a:r>
          </a:p>
          <a:p>
            <a:pPr marL="0" indent="0">
              <a:buNone/>
            </a:pPr>
            <a:r>
              <a:rPr lang="en-US" sz="2600" b="1" dirty="0"/>
              <a:t>    How it works — a quick analogy</a:t>
            </a:r>
          </a:p>
          <a:p>
            <a:r>
              <a:rPr lang="en-US" sz="2600" dirty="0"/>
              <a:t>Imagine a locked box with a combination lock. If you try every possible combination from 0000 to 9999, that’s </a:t>
            </a:r>
            <a:r>
              <a:rPr lang="en-US" sz="2600" b="1" dirty="0"/>
              <a:t>brute force</a:t>
            </a:r>
            <a:r>
              <a:rPr lang="en-US" sz="2600" dirty="0"/>
              <a:t>. If you first try combinations that people often choose — like 1234 or birth years — that’s like a </a:t>
            </a:r>
            <a:r>
              <a:rPr lang="en-US" sz="2600" b="1" dirty="0"/>
              <a:t>dictionary attack</a:t>
            </a:r>
            <a:r>
              <a:rPr lang="en-US" sz="2600" dirty="0"/>
              <a:t> (you try the likely combinations first).</a:t>
            </a:r>
          </a:p>
          <a:p>
            <a:r>
              <a:rPr lang="en-US" sz="2400" b="1" dirty="0"/>
              <a:t>Brute-force:</a:t>
            </a:r>
            <a:r>
              <a:rPr lang="en-US" sz="2400" dirty="0"/>
              <a:t> Systematically try every possible password (guaranteed to find it, but may be impractically slow).</a:t>
            </a:r>
            <a:endParaRPr lang="en-US" sz="26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875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B99E34-1A5F-9002-B56D-3A3915AA2786}"/>
              </a:ext>
            </a:extLst>
          </p:cNvPr>
          <p:cNvSpPr txBox="1"/>
          <p:nvPr/>
        </p:nvSpPr>
        <p:spPr>
          <a:xfrm>
            <a:off x="618744" y="766732"/>
            <a:ext cx="1095451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/>
              <a:t>UI &amp; navigation</a:t>
            </a:r>
          </a:p>
          <a:p>
            <a:pPr marL="457200" indent="-457200">
              <a:buAutoNum type="arabicPeriod"/>
            </a:pP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Tabbed interface</a:t>
            </a:r>
            <a:r>
              <a:rPr lang="en-US" sz="2400" dirty="0"/>
              <a:t> — two tabs: </a:t>
            </a:r>
            <a:r>
              <a:rPr lang="en-US" sz="2400" b="1" dirty="0"/>
              <a:t>Create Account</a:t>
            </a:r>
            <a:r>
              <a:rPr lang="en-US" sz="2400" dirty="0"/>
              <a:t> and </a:t>
            </a:r>
            <a:r>
              <a:rPr lang="en-US" sz="2400" b="1" dirty="0"/>
              <a:t>Login &amp; Cracker</a:t>
            </a:r>
            <a:r>
              <a:rPr lang="en-US" sz="2400" dirty="0"/>
              <a:t> for a clear workflow.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Responsive card layout</a:t>
            </a:r>
            <a:r>
              <a:rPr lang="en-US" sz="2400" dirty="0"/>
              <a:t> — neat cards, form controls and a live monospace log area for readability.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Progress bar &amp; live stats</a:t>
            </a:r>
            <a:r>
              <a:rPr lang="en-US" sz="2400" dirty="0"/>
              <a:t> — visual progress, attempts counter, estimated rate and elapsed timer</a:t>
            </a:r>
            <a:r>
              <a:rPr lang="en-US" sz="2000" dirty="0"/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070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792759-B424-286D-B764-26093210E12A}"/>
              </a:ext>
            </a:extLst>
          </p:cNvPr>
          <p:cNvSpPr txBox="1"/>
          <p:nvPr/>
        </p:nvSpPr>
        <p:spPr>
          <a:xfrm>
            <a:off x="657726" y="561474"/>
            <a:ext cx="1060383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2.Account management (local-only)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Create account stored in </a:t>
            </a:r>
            <a:r>
              <a:rPr lang="en-US" sz="2400" b="1" dirty="0" err="1"/>
              <a:t>localStorage</a:t>
            </a:r>
            <a:r>
              <a:rPr lang="en-US" sz="2400" dirty="0"/>
              <a:t> — saves {user, pass} locally in the browser (no server).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Password rules enforced</a:t>
            </a:r>
            <a:r>
              <a:rPr lang="en-US" sz="2400" dirty="0"/>
              <a:t> — exactly </a:t>
            </a:r>
            <a:r>
              <a:rPr lang="en-US" sz="2400" b="1" dirty="0"/>
              <a:t>8 characters</a:t>
            </a:r>
            <a:r>
              <a:rPr lang="en-US" sz="2400" dirty="0"/>
              <a:t>, only </a:t>
            </a:r>
            <a:r>
              <a:rPr lang="en-US" sz="2400" b="1" dirty="0"/>
              <a:t>lowercase a–z</a:t>
            </a:r>
            <a:r>
              <a:rPr lang="en-US" sz="2400" dirty="0"/>
              <a:t> and </a:t>
            </a:r>
            <a:r>
              <a:rPr lang="en-US" sz="2400" b="1" dirty="0"/>
              <a:t>digits 0–9</a:t>
            </a:r>
            <a:r>
              <a:rPr lang="en-US" sz="2400" dirty="0"/>
              <a:t> (validated with a regex).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Clear / Save controls</a:t>
            </a:r>
            <a:r>
              <a:rPr lang="en-US" sz="2400" dirty="0"/>
              <a:t> — create account, clear form; feedback messages for success / errors.</a:t>
            </a:r>
          </a:p>
        </p:txBody>
      </p:sp>
    </p:spTree>
    <p:extLst>
      <p:ext uri="{BB962C8B-B14F-4D97-AF65-F5344CB8AC3E}">
        <p14:creationId xmlns:p14="http://schemas.microsoft.com/office/powerpoint/2010/main" val="4094747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4CFF19-FC9C-E555-64EE-0C1E33031F81}"/>
              </a:ext>
            </a:extLst>
          </p:cNvPr>
          <p:cNvSpPr txBox="1"/>
          <p:nvPr/>
        </p:nvSpPr>
        <p:spPr>
          <a:xfrm>
            <a:off x="818147" y="721895"/>
            <a:ext cx="1073216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3. Login simulation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Local login check</a:t>
            </a:r>
            <a:r>
              <a:rPr lang="en-US" sz="2400" dirty="0"/>
              <a:t> — compare entered username + password to locally saved account and show success/failure messages.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Logout button</a:t>
            </a:r>
            <a:r>
              <a:rPr lang="en-US" sz="2400" dirty="0"/>
              <a:t> — clear login inputs and show logged-out message.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b="1" dirty="0"/>
              <a:t>4. Logging &amp; export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Attempt log</a:t>
            </a:r>
            <a:r>
              <a:rPr lang="en-US" sz="2400" dirty="0"/>
              <a:t> — a monospace live log that shows time-stamped messages (recent entries shown in UI).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Export CSV</a:t>
            </a:r>
            <a:r>
              <a:rPr lang="en-US" sz="2400" dirty="0"/>
              <a:t> — export the recorded log entries to a CSV file for saving or later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3048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67A99C-492E-66DC-39E3-6A4B8669C056}"/>
              </a:ext>
            </a:extLst>
          </p:cNvPr>
          <p:cNvSpPr txBox="1"/>
          <p:nvPr/>
        </p:nvSpPr>
        <p:spPr>
          <a:xfrm>
            <a:off x="192505" y="128336"/>
            <a:ext cx="1180699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5.Cracker simulation (educational)</a:t>
            </a:r>
          </a:p>
          <a:p>
            <a:endParaRPr lang="en-US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Two cracking modes</a:t>
            </a:r>
            <a:r>
              <a:rPr lang="en-US" sz="2200" dirty="0"/>
              <a:t>:</a:t>
            </a:r>
          </a:p>
          <a:p>
            <a:pPr lvl="1"/>
            <a:r>
              <a:rPr lang="en-US" sz="2200" b="1" dirty="0"/>
              <a:t>Random non-repeating (sampling)</a:t>
            </a:r>
            <a:r>
              <a:rPr lang="en-US" sz="2200" dirty="0"/>
              <a:t> — generates random 8-char guesses from the allowed alphabet.</a:t>
            </a:r>
          </a:p>
          <a:p>
            <a:pPr lvl="1"/>
            <a:r>
              <a:rPr lang="en-US" sz="2200" b="1" dirty="0"/>
              <a:t>Sequential (lexicographic)</a:t>
            </a:r>
            <a:r>
              <a:rPr lang="en-US" sz="2200" dirty="0"/>
              <a:t> — generates guesses in lexicographic order (only for small demo runs; limited to avoid huge iteration).</a:t>
            </a:r>
          </a:p>
          <a:p>
            <a:pPr lvl="1"/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Speed control</a:t>
            </a:r>
            <a:r>
              <a:rPr lang="en-US" sz="2200" dirty="0"/>
              <a:t> — slider to set attempts per second (10 → 200,000), with live numeric display.</a:t>
            </a:r>
          </a:p>
          <a:p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Start / Stop / Reset controls</a:t>
            </a:r>
            <a:r>
              <a:rPr lang="en-US" sz="2200" dirty="0"/>
              <a:t> — start the simulation, stop mid-run, and reset counters &amp; logs (reset requires stopping first).</a:t>
            </a:r>
          </a:p>
          <a:p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Batching loop</a:t>
            </a:r>
            <a:r>
              <a:rPr lang="en-US" sz="2200" dirty="0"/>
              <a:t> — attempts are run in small batches to keep the UI responsive while approximating the requested attempts/sec.</a:t>
            </a:r>
          </a:p>
          <a:p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Demo progress scaling</a:t>
            </a:r>
            <a:r>
              <a:rPr lang="en-US" sz="2200" dirty="0"/>
              <a:t> — because the full space (36⁸) is enormous, the progress bar is scaled to a demo cap (1,000,000) so the UI shows progress visibly.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2110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6D717A-2E7F-5625-52F5-40B857FF3F67}"/>
              </a:ext>
            </a:extLst>
          </p:cNvPr>
          <p:cNvSpPr txBox="1"/>
          <p:nvPr/>
        </p:nvSpPr>
        <p:spPr>
          <a:xfrm>
            <a:off x="497305" y="673768"/>
            <a:ext cx="1134176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6. Statistics &amp; math display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Combinatorics explained</a:t>
            </a:r>
            <a:r>
              <a:rPr lang="en-US" sz="2400" dirty="0"/>
              <a:t> — shows alphabet size (36), formula 36^8, and the exact big integer </a:t>
            </a:r>
            <a:r>
              <a:rPr lang="en-US" sz="2400" b="1" dirty="0"/>
              <a:t>2,821,109,907,456</a:t>
            </a:r>
            <a:r>
              <a:rPr lang="en-US" sz="2400" dirty="0"/>
              <a:t> combinations.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Example time estimates</a:t>
            </a:r>
            <a:r>
              <a:rPr lang="en-US" sz="2400" dirty="0"/>
              <a:t> — illustrative estimates for different attempt rates (1k/sec, 10k/sec, 1M/sec) so viewers get a feel for scale.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Live counters</a:t>
            </a:r>
            <a:r>
              <a:rPr lang="en-US" sz="2400" dirty="0"/>
              <a:t> — Attempts count, rate estimate (attempt/sec), elapsed time, and total space shown in the UI.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736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976594-A615-DD42-97CB-A6A1403E7E16}"/>
              </a:ext>
            </a:extLst>
          </p:cNvPr>
          <p:cNvSpPr txBox="1"/>
          <p:nvPr/>
        </p:nvSpPr>
        <p:spPr>
          <a:xfrm>
            <a:off x="657726" y="914400"/>
            <a:ext cx="1087654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7. Safety &amp; ethics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Local-only demonstration</a:t>
            </a:r>
            <a:r>
              <a:rPr lang="en-US" sz="2400" dirty="0"/>
              <a:t> — no network requests; stored data is only in browser </a:t>
            </a:r>
            <a:r>
              <a:rPr lang="en-US" sz="2400" dirty="0" err="1"/>
              <a:t>localStorage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Clear ethics notice</a:t>
            </a:r>
            <a:r>
              <a:rPr lang="en-US" sz="2400" dirty="0"/>
              <a:t> — the page repeatedly warns this is educational only and must not be used against real systems without authorization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2264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7657E-6424-BDA5-7AFF-C3BACE4888A1}"/>
              </a:ext>
            </a:extLst>
          </p:cNvPr>
          <p:cNvSpPr txBox="1"/>
          <p:nvPr/>
        </p:nvSpPr>
        <p:spPr>
          <a:xfrm>
            <a:off x="256674" y="144379"/>
            <a:ext cx="11694694" cy="6545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8. Implementation details (technical)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Client-side only (HTML+CSS+JS)</a:t>
            </a:r>
            <a:r>
              <a:rPr lang="en-US" sz="2400" dirty="0"/>
              <a:t> — standalone page you can open in any browser; no backend.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Alphabet &amp; combinatorics implemented</a:t>
            </a:r>
            <a:r>
              <a:rPr lang="en-US" sz="2400" dirty="0"/>
              <a:t> — builds alphabet array programmatically (a–z + 0–9) and computes TOTAL_SPACE as a </a:t>
            </a:r>
            <a:r>
              <a:rPr lang="en-US" sz="2400" dirty="0" err="1"/>
              <a:t>BigInt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Regex validation</a:t>
            </a:r>
            <a:r>
              <a:rPr lang="en-US" sz="2400" dirty="0"/>
              <a:t> — </a:t>
            </a:r>
            <a:r>
              <a:rPr lang="en-US" sz="2400" dirty="0" err="1"/>
              <a:t>validatePassword</a:t>
            </a:r>
            <a:r>
              <a:rPr lang="en-US" sz="2400" dirty="0"/>
              <a:t>() uses /^[a-z0-9]{8}$/ to enforce the rule.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Performance safety</a:t>
            </a:r>
            <a:r>
              <a:rPr lang="en-US" sz="2400" dirty="0"/>
              <a:t> — sequential mode has a demo limit (stops if index exceeds practical bounds) and random mode doesn’t attempt to track all tried combinations (would be memory-prohibitive).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Formatted big integers &amp; elapsed formatting</a:t>
            </a:r>
            <a:r>
              <a:rPr lang="en-US" sz="2400" dirty="0"/>
              <a:t> — helper functions format large numbers with commas and format elapsed time HH:MM:SS.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77658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35E3B3-1DAE-20D3-64C0-9720FDD33E91}"/>
              </a:ext>
            </a:extLst>
          </p:cNvPr>
          <p:cNvSpPr txBox="1"/>
          <p:nvPr/>
        </p:nvSpPr>
        <p:spPr>
          <a:xfrm>
            <a:off x="529389" y="657726"/>
            <a:ext cx="1114926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9. Limitations (important to mention)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Not exhaustive</a:t>
            </a:r>
            <a:r>
              <a:rPr lang="en-US" sz="2400" dirty="0"/>
              <a:t> — the demo never actually iterates 2.8 trillion combinations; it samples or stops early for practicality.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Not a real cracker</a:t>
            </a:r>
            <a:r>
              <a:rPr lang="en-US" sz="2400" dirty="0"/>
              <a:t> — it does not compute or compare hashes, nor does it attack networked services. It only compares plaintext guesses to the locally stored plaintext password.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Random mode may repeat</a:t>
            </a:r>
            <a:r>
              <a:rPr lang="en-US" sz="2400" dirty="0"/>
              <a:t> — because full-space de-duplication is infeasible, random sampling can repeat guesses (but probability is tiny for short runs).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Security of </a:t>
            </a:r>
            <a:r>
              <a:rPr lang="en-US" sz="2400" b="1" dirty="0" err="1"/>
              <a:t>localStorage</a:t>
            </a:r>
            <a:r>
              <a:rPr lang="en-US" sz="2400" dirty="0"/>
              <a:t> — saved demo account is visible to anyone with access to the browser profile; it’s not secure storage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60302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376E6C-5743-60C6-CDDD-599BD77E8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04" y="346664"/>
            <a:ext cx="11430000" cy="628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061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1AD46D-9E81-1365-B69E-F636D474C773}"/>
              </a:ext>
            </a:extLst>
          </p:cNvPr>
          <p:cNvSpPr txBox="1"/>
          <p:nvPr/>
        </p:nvSpPr>
        <p:spPr>
          <a:xfrm>
            <a:off x="140368" y="288758"/>
            <a:ext cx="119112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sz="2400" b="1" dirty="0"/>
              <a:t>Input / Target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en-US" sz="2400" b="1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 Where the cracker gets data (plain password field for demo, or imported hash/salt for offline tests).</a:t>
            </a:r>
            <a:endParaRPr lang="en-US" sz="2400" b="1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Target source</a:t>
            </a:r>
            <a:r>
              <a:rPr lang="en-US" altLang="en-US" sz="2400" dirty="0">
                <a:latin typeface="Arial" panose="020B0604020202020204" pitchFamily="34" charset="0"/>
              </a:rPr>
              <a:t> — where the password data comes from (plain-text demo field, imported hash file, or captured/login endpoint).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Account store</a:t>
            </a:r>
            <a:r>
              <a:rPr lang="en-US" altLang="en-US" sz="2400" dirty="0">
                <a:latin typeface="Arial" panose="020B0604020202020204" pitchFamily="34" charset="0"/>
              </a:rPr>
              <a:t> — temporary/local storage of username/password or hashes for the demo.</a:t>
            </a:r>
          </a:p>
        </p:txBody>
      </p:sp>
    </p:spTree>
    <p:extLst>
      <p:ext uri="{BB962C8B-B14F-4D97-AF65-F5344CB8AC3E}">
        <p14:creationId xmlns:p14="http://schemas.microsoft.com/office/powerpoint/2010/main" val="1748204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C7264A-3BC5-AAC2-77C2-0A7D3FC56D0F}"/>
              </a:ext>
            </a:extLst>
          </p:cNvPr>
          <p:cNvSpPr txBox="1"/>
          <p:nvPr/>
        </p:nvSpPr>
        <p:spPr>
          <a:xfrm>
            <a:off x="733926" y="613612"/>
            <a:ext cx="1102092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b="1" dirty="0"/>
              <a:t>2.Guess generators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sz="2400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Brute-force generator</a:t>
            </a:r>
            <a:r>
              <a:rPr lang="en-US" altLang="en-US" sz="2400" dirty="0">
                <a:latin typeface="Arial" panose="020B0604020202020204" pitchFamily="34" charset="0"/>
              </a:rPr>
              <a:t> — produces every possible combination from the charset (usually impractical for large spaces).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Dictionary generator</a:t>
            </a:r>
            <a:r>
              <a:rPr lang="en-US" altLang="en-US" sz="2400" dirty="0">
                <a:latin typeface="Arial" panose="020B0604020202020204" pitchFamily="34" charset="0"/>
              </a:rPr>
              <a:t> — reads a wordlist of likely passwords.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Hybrid generator</a:t>
            </a:r>
            <a:r>
              <a:rPr lang="en-US" altLang="en-US" sz="2400" dirty="0">
                <a:latin typeface="Arial" panose="020B0604020202020204" pitchFamily="34" charset="0"/>
              </a:rPr>
              <a:t> — combines dictionary words + rule transforms.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Random sampler</a:t>
            </a:r>
            <a:r>
              <a:rPr lang="en-US" altLang="en-US" sz="2400" dirty="0">
                <a:latin typeface="Arial" panose="020B0604020202020204" pitchFamily="34" charset="0"/>
              </a:rPr>
              <a:t> — picks random guesses (useful in demos or probabilistic attacks).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Sequential (lexicographic) generator</a:t>
            </a:r>
            <a:r>
              <a:rPr lang="en-US" altLang="en-US" sz="2400" dirty="0">
                <a:latin typeface="Arial" panose="020B0604020202020204" pitchFamily="34" charset="0"/>
              </a:rPr>
              <a:t> — steps through candidates in a deterministic order.</a:t>
            </a:r>
          </a:p>
        </p:txBody>
      </p:sp>
    </p:spTree>
    <p:extLst>
      <p:ext uri="{BB962C8B-B14F-4D97-AF65-F5344CB8AC3E}">
        <p14:creationId xmlns:p14="http://schemas.microsoft.com/office/powerpoint/2010/main" val="1448520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1EBF99-BAD8-7CF1-C105-7A23584792E0}"/>
              </a:ext>
            </a:extLst>
          </p:cNvPr>
          <p:cNvSpPr txBox="1"/>
          <p:nvPr/>
        </p:nvSpPr>
        <p:spPr>
          <a:xfrm>
            <a:off x="401001" y="1142999"/>
            <a:ext cx="1138999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3.Hashing / Comparison</a:t>
            </a:r>
          </a:p>
          <a:p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Hashes each guess (if needed) and checks whether it matches the stored value.</a:t>
            </a:r>
          </a:p>
          <a:p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Hash function implementation</a:t>
            </a:r>
            <a:r>
              <a:rPr lang="en-IN" sz="2400" dirty="0"/>
              <a:t> — computes hashes (MD5, SHA-1, SHA-256, or KDFs </a:t>
            </a:r>
          </a:p>
          <a:p>
            <a:r>
              <a:rPr lang="en-IN" sz="2400" dirty="0"/>
              <a:t>like PBKDF2/</a:t>
            </a:r>
            <a:r>
              <a:rPr lang="en-IN" sz="2400" dirty="0" err="1"/>
              <a:t>bcrypt</a:t>
            </a:r>
            <a:r>
              <a:rPr lang="en-IN" sz="2400" dirty="0"/>
              <a:t>/argon2) to compare guesses to stored hashes.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Salt handling</a:t>
            </a:r>
            <a:r>
              <a:rPr lang="en-IN" sz="2400" dirty="0"/>
              <a:t> — supports prefix/suffix or stored salts when comparing salted hashes.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Plaintext compare</a:t>
            </a:r>
            <a:r>
              <a:rPr lang="en-IN" sz="2400" dirty="0"/>
              <a:t> — simple string compare used in basic demos.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98787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26E339-2D01-E0C4-4A56-E6BA08C05EE0}"/>
              </a:ext>
            </a:extLst>
          </p:cNvPr>
          <p:cNvSpPr txBox="1"/>
          <p:nvPr/>
        </p:nvSpPr>
        <p:spPr>
          <a:xfrm>
            <a:off x="846358" y="1155032"/>
            <a:ext cx="1049928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4.Performance Control</a:t>
            </a:r>
            <a:br>
              <a:rPr lang="en-US" sz="2400" dirty="0"/>
            </a:br>
            <a:r>
              <a:rPr lang="en-US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Rate/batching and optional acceleration (simulate GPU or tune attempts/sec) to</a:t>
            </a:r>
          </a:p>
          <a:p>
            <a:r>
              <a:rPr lang="en-US" sz="2400" dirty="0"/>
              <a:t> manage speed and responsiveness.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Acceleration &amp; Safe Simulation</a:t>
            </a:r>
            <a:r>
              <a:rPr lang="en-US" sz="2400" dirty="0"/>
              <a:t> — simulate or optionally </a:t>
            </a:r>
          </a:p>
          <a:p>
            <a:r>
              <a:rPr lang="en-US" sz="2400" dirty="0"/>
              <a:t>use hardware acceleration (GPU/native) while providing safe defaults; </a:t>
            </a:r>
          </a:p>
          <a:p>
            <a:r>
              <a:rPr lang="en-US" sz="2400" dirty="0"/>
              <a:t>don’t let the app saturate the device.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42962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8645C7-600A-334E-4A7D-DF018B179CEC}"/>
              </a:ext>
            </a:extLst>
          </p:cNvPr>
          <p:cNvSpPr txBox="1"/>
          <p:nvPr/>
        </p:nvSpPr>
        <p:spPr>
          <a:xfrm>
            <a:off x="542236" y="982176"/>
            <a:ext cx="1110752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/>
              <a:t>5.UI / Logging &amp; Safety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 Start/stop controls, progress display, log/export, and mandatory consent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 / local-only warnings.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 Consent modal</a:t>
            </a:r>
            <a:r>
              <a:rPr lang="en-US" altLang="en-US" sz="2400" dirty="0">
                <a:latin typeface="Arial" panose="020B0604020202020204" pitchFamily="34" charset="0"/>
              </a:rPr>
              <a:t> — explicit confirmation that user has authorization.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Local-only enforcement</a:t>
            </a:r>
            <a:r>
              <a:rPr lang="en-US" altLang="en-US" sz="2400" dirty="0">
                <a:latin typeface="Arial" panose="020B0604020202020204" pitchFamily="34" charset="0"/>
              </a:rPr>
              <a:t> — no network uploads, explicit </a:t>
            </a:r>
            <a:r>
              <a:rPr lang="en-US" altLang="en-US" sz="2400" dirty="0" err="1">
                <a:latin typeface="Arial" panose="020B0604020202020204" pitchFamily="34" charset="0"/>
              </a:rPr>
              <a:t>localStorage</a:t>
            </a:r>
            <a:r>
              <a:rPr lang="en-US" altLang="en-US" sz="2400" dirty="0">
                <a:latin typeface="Arial" panose="020B0604020202020204" pitchFamily="34" charset="0"/>
              </a:rPr>
              <a:t> usage or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 ephemeral mode.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Wipe / clear data</a:t>
            </a:r>
            <a:r>
              <a:rPr lang="en-US" altLang="en-US" sz="2400" dirty="0">
                <a:latin typeface="Arial" panose="020B0604020202020204" pitchFamily="34" charset="0"/>
              </a:rPr>
              <a:t> button to remove saved values.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Safe defaults</a:t>
            </a:r>
            <a:r>
              <a:rPr lang="en-US" altLang="en-US" sz="2400" dirty="0">
                <a:latin typeface="Arial" panose="020B0604020202020204" pitchFamily="34" charset="0"/>
              </a:rPr>
              <a:t> — capped speeds and simulated heavy workloads instead of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actually freezing the browser</a:t>
            </a:r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11228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F06028-DD53-AE0A-94BF-EE5236E95381}"/>
              </a:ext>
            </a:extLst>
          </p:cNvPr>
          <p:cNvSpPr txBox="1"/>
          <p:nvPr/>
        </p:nvSpPr>
        <p:spPr>
          <a:xfrm>
            <a:off x="4367463" y="709863"/>
            <a:ext cx="3543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PRACTICAL WORK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112215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00CBA6-5A1A-43BC-8379-ABFFDF01E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3905" y="1503946"/>
            <a:ext cx="8558603" cy="53540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EDF70D-A737-EF0B-A372-BAE2E69911E6}"/>
              </a:ext>
            </a:extLst>
          </p:cNvPr>
          <p:cNvSpPr txBox="1"/>
          <p:nvPr/>
        </p:nvSpPr>
        <p:spPr>
          <a:xfrm>
            <a:off x="2715788" y="156410"/>
            <a:ext cx="679483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1.Client-Side Flow of Password Cracking Simulation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831566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E7A25A-471D-E75A-3463-95DBA40ED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209" y="716164"/>
            <a:ext cx="7273582" cy="59730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0E0936-83D6-CFE6-C01A-F5C100B5EDEB}"/>
              </a:ext>
            </a:extLst>
          </p:cNvPr>
          <p:cNvSpPr txBox="1"/>
          <p:nvPr/>
        </p:nvSpPr>
        <p:spPr>
          <a:xfrm>
            <a:off x="3898231" y="385011"/>
            <a:ext cx="4656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200" dirty="0"/>
              <a:t> 2.PIN Creation Module</a:t>
            </a:r>
          </a:p>
        </p:txBody>
      </p:sp>
    </p:spTree>
    <p:extLst>
      <p:ext uri="{BB962C8B-B14F-4D97-AF65-F5344CB8AC3E}">
        <p14:creationId xmlns:p14="http://schemas.microsoft.com/office/powerpoint/2010/main" val="40214877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71257B-D4FD-6341-DB29-DC9EDF4CA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987" y="864131"/>
            <a:ext cx="7616026" cy="59938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881A71-D66F-D38E-BC5A-908B3024F419}"/>
              </a:ext>
            </a:extLst>
          </p:cNvPr>
          <p:cNvSpPr txBox="1"/>
          <p:nvPr/>
        </p:nvSpPr>
        <p:spPr>
          <a:xfrm>
            <a:off x="2854904" y="120316"/>
            <a:ext cx="73616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3.PIN Verification &amp; Cracking Result Display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643786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852697-F2F4-CB9C-EF4F-3E22B9F9E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021" y="1091488"/>
            <a:ext cx="8799856" cy="56954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D0C43E-4D93-C03A-7274-416448438A93}"/>
              </a:ext>
            </a:extLst>
          </p:cNvPr>
          <p:cNvSpPr txBox="1"/>
          <p:nvPr/>
        </p:nvSpPr>
        <p:spPr>
          <a:xfrm>
            <a:off x="2382253" y="276726"/>
            <a:ext cx="8165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4.Password Generation and Complexity Analysis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5343373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CEA4B9-1B08-5E64-1538-CAE55018D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569" y="1288879"/>
            <a:ext cx="7906420" cy="55691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F20B59-4F80-0208-B5C2-275A2F64660C}"/>
              </a:ext>
            </a:extLst>
          </p:cNvPr>
          <p:cNvSpPr txBox="1"/>
          <p:nvPr/>
        </p:nvSpPr>
        <p:spPr>
          <a:xfrm>
            <a:off x="2321794" y="324852"/>
            <a:ext cx="8580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5.Brute Force Simulation for 8-Character Password</a:t>
            </a:r>
          </a:p>
        </p:txBody>
      </p:sp>
    </p:spTree>
    <p:extLst>
      <p:ext uri="{BB962C8B-B14F-4D97-AF65-F5344CB8AC3E}">
        <p14:creationId xmlns:p14="http://schemas.microsoft.com/office/powerpoint/2010/main" val="1997965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0454B1-0427-4B0B-CCC0-32594EAF08EF}"/>
              </a:ext>
            </a:extLst>
          </p:cNvPr>
          <p:cNvSpPr txBox="1"/>
          <p:nvPr/>
        </p:nvSpPr>
        <p:spPr>
          <a:xfrm>
            <a:off x="3902396" y="323309"/>
            <a:ext cx="5301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Future Enhancement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029654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E77D96-F515-9B97-FDDA-D6696163671E}"/>
              </a:ext>
            </a:extLst>
          </p:cNvPr>
          <p:cNvSpPr txBox="1"/>
          <p:nvPr/>
        </p:nvSpPr>
        <p:spPr>
          <a:xfrm>
            <a:off x="5045071" y="421105"/>
            <a:ext cx="21018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Conclusion 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713F5-C776-4813-3969-89E36792B0EB}"/>
              </a:ext>
            </a:extLst>
          </p:cNvPr>
          <p:cNvSpPr txBox="1"/>
          <p:nvPr/>
        </p:nvSpPr>
        <p:spPr>
          <a:xfrm>
            <a:off x="180474" y="1251285"/>
            <a:ext cx="1182704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Password cracking helps us </a:t>
            </a:r>
            <a:r>
              <a:rPr lang="en-US" sz="2400" b="1" dirty="0"/>
              <a:t>understand how weak passwords can be easily broken</a:t>
            </a:r>
            <a:r>
              <a:rPr lang="en-US" sz="2400" dirty="0"/>
              <a:t>, and why </a:t>
            </a:r>
            <a:r>
              <a:rPr lang="en-US" sz="2400" b="1" dirty="0"/>
              <a:t>strong password security</a:t>
            </a:r>
            <a:r>
              <a:rPr lang="en-US" sz="2400" dirty="0"/>
              <a:t> is important.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Through this demo, we can </a:t>
            </a:r>
            <a:r>
              <a:rPr lang="en-US" sz="2400" b="1" dirty="0"/>
              <a:t>see how different cracking methods</a:t>
            </a:r>
            <a:r>
              <a:rPr lang="en-US" sz="2400" dirty="0"/>
              <a:t> (like brute force or dictionary attacks) work in a </a:t>
            </a:r>
            <a:r>
              <a:rPr lang="en-US" sz="2400" b="1" dirty="0"/>
              <a:t>controlled and educational way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shows that even simple 8-character passwords can take </a:t>
            </a:r>
            <a:r>
              <a:rPr lang="en-US" sz="2400" b="1" dirty="0"/>
              <a:t>years or just seconds to crack</a:t>
            </a:r>
            <a:r>
              <a:rPr lang="en-US" sz="2400" dirty="0"/>
              <a:t>, depending on their strength and the attacker’s resources.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main goal is </a:t>
            </a:r>
            <a:r>
              <a:rPr lang="en-US" sz="2400" b="1" dirty="0"/>
              <a:t>awareness</a:t>
            </a:r>
            <a:r>
              <a:rPr lang="en-US" sz="2400" dirty="0"/>
              <a:t>, not misuse — to </a:t>
            </a:r>
            <a:r>
              <a:rPr lang="en-US" sz="2400" b="1" dirty="0"/>
              <a:t>educate users</a:t>
            </a:r>
            <a:r>
              <a:rPr lang="en-US" sz="2400" dirty="0"/>
              <a:t> on creating </a:t>
            </a:r>
            <a:r>
              <a:rPr lang="en-US" sz="2400" b="1" dirty="0"/>
              <a:t>stronger, unique, and more secure passwords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 the future, we can make this project more realistic by </a:t>
            </a:r>
            <a:r>
              <a:rPr lang="en-US" sz="2400" b="1" dirty="0"/>
              <a:t>adding hash comparison, salting, and better visual tools</a:t>
            </a:r>
            <a:r>
              <a:rPr lang="en-US" sz="2400" dirty="0"/>
              <a:t>, while always keeping it </a:t>
            </a:r>
            <a:r>
              <a:rPr lang="en-US" sz="2400" b="1" dirty="0"/>
              <a:t>ethical and safe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0667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1524</Words>
  <Application>Microsoft Office PowerPoint</Application>
  <PresentationFormat>Widescreen</PresentationFormat>
  <Paragraphs>182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PROJECT PROFILE</vt:lpstr>
      <vt:lpstr>REQUIREMENTS</vt:lpstr>
      <vt:lpstr>INTRODUCTION TO PASSWORD CRACKING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Vyom Amin</dc:creator>
  <cp:lastModifiedBy>Vyom Amin</cp:lastModifiedBy>
  <cp:revision>2</cp:revision>
  <dcterms:created xsi:type="dcterms:W3CDTF">2025-11-03T11:44:13Z</dcterms:created>
  <dcterms:modified xsi:type="dcterms:W3CDTF">2025-11-03T19:12:18Z</dcterms:modified>
</cp:coreProperties>
</file>